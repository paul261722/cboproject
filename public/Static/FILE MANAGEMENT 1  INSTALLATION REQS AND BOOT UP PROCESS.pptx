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6" r:id="rId17"/>
    <p:sldId id="271" r:id="rId18"/>
    <p:sldId id="272" r:id="rId19"/>
    <p:sldId id="273" r:id="rId20"/>
    <p:sldId id="275"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4" autoAdjust="0"/>
    <p:restoredTop sz="94660"/>
  </p:normalViewPr>
  <p:slideViewPr>
    <p:cSldViewPr snapToGrid="0">
      <p:cViewPr varScale="1">
        <p:scale>
          <a:sx n="69" d="100"/>
          <a:sy n="69" d="100"/>
        </p:scale>
        <p:origin x="37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0DDB29D-D5C5-4D94-99C4-0A5BA5878891}" type="datetimeFigureOut">
              <a:rPr lang="en-US" smtClean="0"/>
              <a:t>24/11/2025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1A08F5-2210-42E8-8FC3-62DEEF12691C}" type="slidenum">
              <a:rPr lang="en-US" smtClean="0"/>
              <a:t>‹#›</a:t>
            </a:fld>
            <a:endParaRPr lang="en-US"/>
          </a:p>
        </p:txBody>
      </p:sp>
    </p:spTree>
    <p:extLst>
      <p:ext uri="{BB962C8B-B14F-4D97-AF65-F5344CB8AC3E}">
        <p14:creationId xmlns:p14="http://schemas.microsoft.com/office/powerpoint/2010/main" val="1644227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0DDB29D-D5C5-4D94-99C4-0A5BA5878891}" type="datetimeFigureOut">
              <a:rPr lang="en-US" smtClean="0"/>
              <a:t>24/11/2025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1A08F5-2210-42E8-8FC3-62DEEF12691C}" type="slidenum">
              <a:rPr lang="en-US" smtClean="0"/>
              <a:t>‹#›</a:t>
            </a:fld>
            <a:endParaRPr lang="en-US"/>
          </a:p>
        </p:txBody>
      </p:sp>
    </p:spTree>
    <p:extLst>
      <p:ext uri="{BB962C8B-B14F-4D97-AF65-F5344CB8AC3E}">
        <p14:creationId xmlns:p14="http://schemas.microsoft.com/office/powerpoint/2010/main" val="999345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DDB29D-D5C5-4D94-99C4-0A5BA5878891}" type="datetimeFigureOut">
              <a:rPr lang="en-US" smtClean="0"/>
              <a:t>24/11/2025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1A08F5-2210-42E8-8FC3-62DEEF12691C}" type="slidenum">
              <a:rPr lang="en-US" smtClean="0"/>
              <a:t>‹#›</a:t>
            </a:fld>
            <a:endParaRPr lang="en-US"/>
          </a:p>
        </p:txBody>
      </p:sp>
    </p:spTree>
    <p:extLst>
      <p:ext uri="{BB962C8B-B14F-4D97-AF65-F5344CB8AC3E}">
        <p14:creationId xmlns:p14="http://schemas.microsoft.com/office/powerpoint/2010/main" val="36331505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0DDB29D-D5C5-4D94-99C4-0A5BA5878891}" type="datetimeFigureOut">
              <a:rPr lang="en-US" smtClean="0"/>
              <a:t>24/11/2025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1A08F5-2210-42E8-8FC3-62DEEF12691C}" type="slidenum">
              <a:rPr lang="en-US" smtClean="0"/>
              <a:t>‹#›</a:t>
            </a:fld>
            <a:endParaRPr lang="en-US"/>
          </a:p>
        </p:txBody>
      </p:sp>
    </p:spTree>
    <p:extLst>
      <p:ext uri="{BB962C8B-B14F-4D97-AF65-F5344CB8AC3E}">
        <p14:creationId xmlns:p14="http://schemas.microsoft.com/office/powerpoint/2010/main" val="3922636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0DDB29D-D5C5-4D94-99C4-0A5BA5878891}" type="datetimeFigureOut">
              <a:rPr lang="en-US" smtClean="0"/>
              <a:t>24/11/2025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C1A08F5-2210-42E8-8FC3-62DEEF12691C}" type="slidenum">
              <a:rPr lang="en-US" smtClean="0"/>
              <a:t>‹#›</a:t>
            </a:fld>
            <a:endParaRPr lang="en-US"/>
          </a:p>
        </p:txBody>
      </p:sp>
    </p:spTree>
    <p:extLst>
      <p:ext uri="{BB962C8B-B14F-4D97-AF65-F5344CB8AC3E}">
        <p14:creationId xmlns:p14="http://schemas.microsoft.com/office/powerpoint/2010/main" val="1049295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0DDB29D-D5C5-4D94-99C4-0A5BA5878891}" type="datetimeFigureOut">
              <a:rPr lang="en-US" smtClean="0"/>
              <a:t>24/11/2025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C1A08F5-2210-42E8-8FC3-62DEEF12691C}" type="slidenum">
              <a:rPr lang="en-US" smtClean="0"/>
              <a:t>‹#›</a:t>
            </a:fld>
            <a:endParaRPr lang="en-US"/>
          </a:p>
        </p:txBody>
      </p:sp>
    </p:spTree>
    <p:extLst>
      <p:ext uri="{BB962C8B-B14F-4D97-AF65-F5344CB8AC3E}">
        <p14:creationId xmlns:p14="http://schemas.microsoft.com/office/powerpoint/2010/main" val="2360732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DDB29D-D5C5-4D94-99C4-0A5BA5878891}" type="datetimeFigureOut">
              <a:rPr lang="en-US" smtClean="0"/>
              <a:t>24/11/2025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C1A08F5-2210-42E8-8FC3-62DEEF12691C}" type="slidenum">
              <a:rPr lang="en-US" smtClean="0"/>
              <a:t>‹#›</a:t>
            </a:fld>
            <a:endParaRPr lang="en-US"/>
          </a:p>
        </p:txBody>
      </p:sp>
    </p:spTree>
    <p:extLst>
      <p:ext uri="{BB962C8B-B14F-4D97-AF65-F5344CB8AC3E}">
        <p14:creationId xmlns:p14="http://schemas.microsoft.com/office/powerpoint/2010/main" val="1080690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DDB29D-D5C5-4D94-99C4-0A5BA5878891}" type="datetimeFigureOut">
              <a:rPr lang="en-US" smtClean="0"/>
              <a:t>24/11/2025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1A08F5-2210-42E8-8FC3-62DEEF12691C}" type="slidenum">
              <a:rPr lang="en-US" smtClean="0"/>
              <a:t>‹#›</a:t>
            </a:fld>
            <a:endParaRPr lang="en-US"/>
          </a:p>
        </p:txBody>
      </p:sp>
    </p:spTree>
    <p:extLst>
      <p:ext uri="{BB962C8B-B14F-4D97-AF65-F5344CB8AC3E}">
        <p14:creationId xmlns:p14="http://schemas.microsoft.com/office/powerpoint/2010/main" val="2115907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DDB29D-D5C5-4D94-99C4-0A5BA5878891}" type="datetimeFigureOut">
              <a:rPr lang="en-US" smtClean="0"/>
              <a:t>24/11/2025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1A08F5-2210-42E8-8FC3-62DEEF12691C}" type="slidenum">
              <a:rPr lang="en-US" smtClean="0"/>
              <a:t>‹#›</a:t>
            </a:fld>
            <a:endParaRPr lang="en-US"/>
          </a:p>
        </p:txBody>
      </p:sp>
    </p:spTree>
    <p:extLst>
      <p:ext uri="{BB962C8B-B14F-4D97-AF65-F5344CB8AC3E}">
        <p14:creationId xmlns:p14="http://schemas.microsoft.com/office/powerpoint/2010/main" val="4209321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0DDB29D-D5C5-4D94-99C4-0A5BA5878891}" type="datetimeFigureOut">
              <a:rPr lang="en-US" smtClean="0"/>
              <a:t>24/11/2025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1A08F5-2210-42E8-8FC3-62DEEF12691C}" type="slidenum">
              <a:rPr lang="en-US" smtClean="0"/>
              <a:t>‹#›</a:t>
            </a:fld>
            <a:endParaRPr lang="en-US"/>
          </a:p>
        </p:txBody>
      </p:sp>
    </p:spTree>
    <p:extLst>
      <p:ext uri="{BB962C8B-B14F-4D97-AF65-F5344CB8AC3E}">
        <p14:creationId xmlns:p14="http://schemas.microsoft.com/office/powerpoint/2010/main" val="4207421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0DDB29D-D5C5-4D94-99C4-0A5BA5878891}" type="datetimeFigureOut">
              <a:rPr lang="en-US" smtClean="0"/>
              <a:t>24/11/2025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1A08F5-2210-42E8-8FC3-62DEEF12691C}" type="slidenum">
              <a:rPr lang="en-US" smtClean="0"/>
              <a:t>‹#›</a:t>
            </a:fld>
            <a:endParaRPr lang="en-US"/>
          </a:p>
        </p:txBody>
      </p:sp>
    </p:spTree>
    <p:extLst>
      <p:ext uri="{BB962C8B-B14F-4D97-AF65-F5344CB8AC3E}">
        <p14:creationId xmlns:p14="http://schemas.microsoft.com/office/powerpoint/2010/main" val="4119531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DDB29D-D5C5-4D94-99C4-0A5BA5878891}" type="datetimeFigureOut">
              <a:rPr lang="en-US" smtClean="0"/>
              <a:t>24/11/2025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1A08F5-2210-42E8-8FC3-62DEEF12691C}" type="slidenum">
              <a:rPr lang="en-US" smtClean="0"/>
              <a:t>‹#›</a:t>
            </a:fld>
            <a:endParaRPr lang="en-US"/>
          </a:p>
        </p:txBody>
      </p:sp>
    </p:spTree>
    <p:extLst>
      <p:ext uri="{BB962C8B-B14F-4D97-AF65-F5344CB8AC3E}">
        <p14:creationId xmlns:p14="http://schemas.microsoft.com/office/powerpoint/2010/main" val="27472883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FILE MANAGEMENT</a:t>
            </a:r>
          </a:p>
        </p:txBody>
      </p:sp>
      <p:sp>
        <p:nvSpPr>
          <p:cNvPr id="3" name="Subtitle 2"/>
          <p:cNvSpPr>
            <a:spLocks noGrp="1"/>
          </p:cNvSpPr>
          <p:nvPr>
            <p:ph type="subTitle" idx="1"/>
          </p:nvPr>
        </p:nvSpPr>
        <p:spPr/>
        <p:txBody>
          <a:bodyPr>
            <a:normAutofit/>
          </a:bodyPr>
          <a:lstStyle/>
          <a:p>
            <a:r>
              <a:rPr lang="en-US" sz="3600" dirty="0"/>
              <a:t>FILES AND FILESYSTEMS</a:t>
            </a:r>
          </a:p>
        </p:txBody>
      </p:sp>
    </p:spTree>
    <p:extLst>
      <p:ext uri="{BB962C8B-B14F-4D97-AF65-F5344CB8AC3E}">
        <p14:creationId xmlns:p14="http://schemas.microsoft.com/office/powerpoint/2010/main" val="2393266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1386"/>
            <a:ext cx="10515600" cy="786809"/>
          </a:xfrm>
        </p:spPr>
        <p:txBody>
          <a:bodyPr/>
          <a:lstStyle/>
          <a:p>
            <a:pPr algn="ctr"/>
            <a:r>
              <a:rPr lang="en-US" b="1" dirty="0"/>
              <a:t>FILES AND FILESYSTEMS</a:t>
            </a:r>
          </a:p>
        </p:txBody>
      </p:sp>
      <p:sp>
        <p:nvSpPr>
          <p:cNvPr id="3" name="Content Placeholder 2"/>
          <p:cNvSpPr>
            <a:spLocks noGrp="1"/>
          </p:cNvSpPr>
          <p:nvPr>
            <p:ph idx="1"/>
          </p:nvPr>
        </p:nvSpPr>
        <p:spPr>
          <a:xfrm>
            <a:off x="838200" y="978195"/>
            <a:ext cx="10515600" cy="5677786"/>
          </a:xfrm>
        </p:spPr>
        <p:txBody>
          <a:bodyPr>
            <a:normAutofit fontScale="92500" lnSpcReduction="10000"/>
          </a:bodyPr>
          <a:lstStyle/>
          <a:p>
            <a:pPr marL="0" indent="0">
              <a:buNone/>
            </a:pPr>
            <a:r>
              <a:rPr lang="en-US" b="1" dirty="0"/>
              <a:t>File Management</a:t>
            </a:r>
            <a:endParaRPr lang="en-US" dirty="0"/>
          </a:p>
          <a:p>
            <a:r>
              <a:rPr lang="en-US" dirty="0"/>
              <a:t>Files and file systems </a:t>
            </a:r>
          </a:p>
          <a:p>
            <a:r>
              <a:rPr lang="en-US" dirty="0"/>
              <a:t>A file management or file system is that set of system software that provides services to users and applications in the use of files.</a:t>
            </a:r>
          </a:p>
          <a:p>
            <a:r>
              <a:rPr lang="en-US" dirty="0"/>
              <a:t>The file system provides the resource abstractions typically associated with secondary storage. The file system permits users to create data collections, called files, with desirable properties, such as</a:t>
            </a:r>
          </a:p>
          <a:p>
            <a:r>
              <a:rPr lang="en-US" dirty="0"/>
              <a:t>• </a:t>
            </a:r>
            <a:r>
              <a:rPr lang="en-US" b="1" dirty="0"/>
              <a:t>Long-term existence: </a:t>
            </a:r>
            <a:r>
              <a:rPr lang="en-US" dirty="0"/>
              <a:t>Files are stored on disk or other secondary storage and do not disappear when a user logs off.</a:t>
            </a:r>
          </a:p>
          <a:p>
            <a:r>
              <a:rPr lang="en-US" dirty="0"/>
              <a:t>• </a:t>
            </a:r>
            <a:r>
              <a:rPr lang="en-US" b="1" dirty="0"/>
              <a:t>Sharable between processes: </a:t>
            </a:r>
            <a:r>
              <a:rPr lang="en-US" dirty="0"/>
              <a:t>Files have names and can have associated access permissions that permit controlled sharing.</a:t>
            </a:r>
          </a:p>
          <a:p>
            <a:r>
              <a:rPr lang="en-US" dirty="0"/>
              <a:t>• </a:t>
            </a:r>
            <a:r>
              <a:rPr lang="en-US" b="1" dirty="0"/>
              <a:t>Structure: </a:t>
            </a:r>
            <a:r>
              <a:rPr lang="en-US" dirty="0"/>
              <a:t>Depending on the file system, a file can have an internal structure that is convenient for particular applications. In addition, files can be organized into hierarchical or more complex structure to reflect the relationships among files.</a:t>
            </a:r>
          </a:p>
          <a:p>
            <a:endParaRPr lang="en-US" dirty="0"/>
          </a:p>
        </p:txBody>
      </p:sp>
    </p:spTree>
    <p:extLst>
      <p:ext uri="{BB962C8B-B14F-4D97-AF65-F5344CB8AC3E}">
        <p14:creationId xmlns:p14="http://schemas.microsoft.com/office/powerpoint/2010/main" val="1536067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8856"/>
            <a:ext cx="10515600" cy="808074"/>
          </a:xfrm>
        </p:spPr>
        <p:txBody>
          <a:bodyPr/>
          <a:lstStyle/>
          <a:p>
            <a:pPr algn="ctr"/>
            <a:r>
              <a:rPr lang="en-US" b="1" dirty="0"/>
              <a:t>FILES AND FILESYSTEMS</a:t>
            </a:r>
            <a:endParaRPr lang="en-US" dirty="0"/>
          </a:p>
        </p:txBody>
      </p:sp>
      <p:sp>
        <p:nvSpPr>
          <p:cNvPr id="3" name="Content Placeholder 2"/>
          <p:cNvSpPr>
            <a:spLocks noGrp="1"/>
          </p:cNvSpPr>
          <p:nvPr>
            <p:ph idx="1"/>
          </p:nvPr>
        </p:nvSpPr>
        <p:spPr>
          <a:xfrm>
            <a:off x="838200" y="1127052"/>
            <a:ext cx="10515600" cy="5401340"/>
          </a:xfrm>
        </p:spPr>
        <p:txBody>
          <a:bodyPr>
            <a:normAutofit/>
          </a:bodyPr>
          <a:lstStyle/>
          <a:p>
            <a:pPr marL="0" indent="0">
              <a:buNone/>
            </a:pPr>
            <a:r>
              <a:rPr lang="en-US" dirty="0"/>
              <a:t>Any file system provides not only a means to store data organized as files, but a collection of functions that can be performed on files. Typical operations include the following:</a:t>
            </a:r>
          </a:p>
          <a:p>
            <a:r>
              <a:rPr lang="en-US" b="1" dirty="0"/>
              <a:t>Create: </a:t>
            </a:r>
            <a:r>
              <a:rPr lang="en-US" dirty="0"/>
              <a:t>A new file is defined and positioned within the structure of files.</a:t>
            </a:r>
          </a:p>
          <a:p>
            <a:r>
              <a:rPr lang="en-US" b="1" dirty="0"/>
              <a:t>Delete: </a:t>
            </a:r>
            <a:r>
              <a:rPr lang="en-US" dirty="0"/>
              <a:t>A file is removed from the file structure and destroyed.</a:t>
            </a:r>
          </a:p>
          <a:p>
            <a:r>
              <a:rPr lang="en-US" b="1" dirty="0"/>
              <a:t>Open: </a:t>
            </a:r>
            <a:r>
              <a:rPr lang="en-US" dirty="0"/>
              <a:t>An existing file is declared to be “opened” by a process, allowing the process to perform functions on the file.</a:t>
            </a:r>
          </a:p>
          <a:p>
            <a:r>
              <a:rPr lang="en-US" b="1" dirty="0"/>
              <a:t>Close: </a:t>
            </a:r>
            <a:r>
              <a:rPr lang="en-US" dirty="0"/>
              <a:t>The file is closed with respect to a process, so that the process no longer may perform functions on the file, until the process opens the file again.</a:t>
            </a:r>
          </a:p>
        </p:txBody>
      </p:sp>
    </p:spTree>
    <p:extLst>
      <p:ext uri="{BB962C8B-B14F-4D97-AF65-F5344CB8AC3E}">
        <p14:creationId xmlns:p14="http://schemas.microsoft.com/office/powerpoint/2010/main" val="120865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1386"/>
            <a:ext cx="10515600" cy="850606"/>
          </a:xfrm>
        </p:spPr>
        <p:txBody>
          <a:bodyPr>
            <a:normAutofit/>
          </a:bodyPr>
          <a:lstStyle/>
          <a:p>
            <a:pPr algn="ctr"/>
            <a:r>
              <a:rPr lang="en-US" b="1" dirty="0"/>
              <a:t>FILES AND FILESYSTEMS</a:t>
            </a:r>
            <a:endParaRPr lang="en-US" dirty="0"/>
          </a:p>
        </p:txBody>
      </p:sp>
      <p:sp>
        <p:nvSpPr>
          <p:cNvPr id="3" name="Content Placeholder 2"/>
          <p:cNvSpPr>
            <a:spLocks noGrp="1"/>
          </p:cNvSpPr>
          <p:nvPr>
            <p:ph idx="1"/>
          </p:nvPr>
        </p:nvSpPr>
        <p:spPr>
          <a:xfrm>
            <a:off x="838200" y="1212112"/>
            <a:ext cx="10515600" cy="5337544"/>
          </a:xfrm>
        </p:spPr>
        <p:txBody>
          <a:bodyPr/>
          <a:lstStyle/>
          <a:p>
            <a:pPr marL="0" indent="0">
              <a:buNone/>
            </a:pPr>
            <a:r>
              <a:rPr lang="en-US" dirty="0"/>
              <a:t>File operations cont’d</a:t>
            </a:r>
          </a:p>
          <a:p>
            <a:r>
              <a:rPr lang="en-US" dirty="0"/>
              <a:t> </a:t>
            </a:r>
            <a:r>
              <a:rPr lang="en-US" b="1" dirty="0"/>
              <a:t>Read: </a:t>
            </a:r>
            <a:r>
              <a:rPr lang="en-US" dirty="0"/>
              <a:t>A process reads all or a portion of the data in a file.</a:t>
            </a:r>
          </a:p>
          <a:p>
            <a:pPr marL="0" indent="0">
              <a:buNone/>
            </a:pPr>
            <a:r>
              <a:rPr lang="en-US" dirty="0"/>
              <a:t>• </a:t>
            </a:r>
            <a:r>
              <a:rPr lang="en-US" b="1" dirty="0"/>
              <a:t>Write: </a:t>
            </a:r>
            <a:r>
              <a:rPr lang="en-US" dirty="0"/>
              <a:t>A process updates a file, either by adding new data that expands the size of the file or by changing the values of existing data items in the file.</a:t>
            </a:r>
          </a:p>
          <a:p>
            <a:r>
              <a:rPr lang="en-US" dirty="0"/>
              <a:t>Typically, a file system maintains a set of attributes associated with the file.</a:t>
            </a:r>
          </a:p>
          <a:p>
            <a:r>
              <a:rPr lang="en-US" dirty="0"/>
              <a:t>These include owner, creation time, time last modified, access privileges, and so on.</a:t>
            </a:r>
          </a:p>
          <a:p>
            <a:endParaRPr lang="en-US" dirty="0"/>
          </a:p>
        </p:txBody>
      </p:sp>
    </p:spTree>
    <p:extLst>
      <p:ext uri="{BB962C8B-B14F-4D97-AF65-F5344CB8AC3E}">
        <p14:creationId xmlns:p14="http://schemas.microsoft.com/office/powerpoint/2010/main" val="2927173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0121"/>
            <a:ext cx="10515600" cy="935666"/>
          </a:xfrm>
        </p:spPr>
        <p:txBody>
          <a:bodyPr/>
          <a:lstStyle/>
          <a:p>
            <a:pPr algn="ctr"/>
            <a:r>
              <a:rPr lang="en-US" b="1" dirty="0"/>
              <a:t>FILES AND FILESYSTEMS</a:t>
            </a:r>
            <a:endParaRPr lang="en-US" dirty="0"/>
          </a:p>
        </p:txBody>
      </p:sp>
      <p:sp>
        <p:nvSpPr>
          <p:cNvPr id="3" name="Content Placeholder 2"/>
          <p:cNvSpPr>
            <a:spLocks noGrp="1"/>
          </p:cNvSpPr>
          <p:nvPr>
            <p:ph idx="1"/>
          </p:nvPr>
        </p:nvSpPr>
        <p:spPr>
          <a:xfrm>
            <a:off x="838200" y="1339702"/>
            <a:ext cx="10515600" cy="5209954"/>
          </a:xfrm>
        </p:spPr>
        <p:txBody>
          <a:bodyPr/>
          <a:lstStyle/>
          <a:p>
            <a:pPr marL="0" indent="0">
              <a:buNone/>
            </a:pPr>
            <a:r>
              <a:rPr lang="en-US" b="1" dirty="0"/>
              <a:t>File Structure</a:t>
            </a:r>
            <a:endParaRPr lang="en-US" dirty="0"/>
          </a:p>
          <a:p>
            <a:pPr marL="0" indent="0">
              <a:buNone/>
            </a:pPr>
            <a:r>
              <a:rPr lang="en-US" dirty="0"/>
              <a:t>Four terms are in common use when discussing files:</a:t>
            </a:r>
          </a:p>
          <a:p>
            <a:pPr lvl="0"/>
            <a:r>
              <a:rPr lang="en-US" dirty="0"/>
              <a:t>Field</a:t>
            </a:r>
          </a:p>
          <a:p>
            <a:pPr lvl="0"/>
            <a:r>
              <a:rPr lang="en-US" dirty="0"/>
              <a:t>Record</a:t>
            </a:r>
          </a:p>
          <a:p>
            <a:pPr lvl="0"/>
            <a:r>
              <a:rPr lang="en-US" dirty="0"/>
              <a:t>File</a:t>
            </a:r>
          </a:p>
          <a:p>
            <a:pPr lvl="0"/>
            <a:r>
              <a:rPr lang="en-US" dirty="0"/>
              <a:t>Database</a:t>
            </a:r>
          </a:p>
          <a:p>
            <a:pPr marL="0" indent="0">
              <a:buNone/>
            </a:pPr>
            <a:r>
              <a:rPr lang="en-US" dirty="0"/>
              <a:t>A </a:t>
            </a:r>
            <a:r>
              <a:rPr lang="en-US" b="1" dirty="0"/>
              <a:t>field </a:t>
            </a:r>
            <a:r>
              <a:rPr lang="en-US" dirty="0"/>
              <a:t>is the basic element of data. An individual field contains a single value, such as an employee’s last name, a date, or the value of a sensor reading. It is characterized by its length and data type (e.g., ASCII string, decimal). Depending on the file design, fields may be fixed length or variable length.</a:t>
            </a:r>
          </a:p>
          <a:p>
            <a:endParaRPr lang="en-US" dirty="0"/>
          </a:p>
        </p:txBody>
      </p:sp>
    </p:spTree>
    <p:extLst>
      <p:ext uri="{BB962C8B-B14F-4D97-AF65-F5344CB8AC3E}">
        <p14:creationId xmlns:p14="http://schemas.microsoft.com/office/powerpoint/2010/main" val="1650416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0121"/>
            <a:ext cx="10515600" cy="999461"/>
          </a:xfrm>
        </p:spPr>
        <p:txBody>
          <a:bodyPr/>
          <a:lstStyle/>
          <a:p>
            <a:pPr algn="ctr"/>
            <a:r>
              <a:rPr lang="en-US" b="1" dirty="0"/>
              <a:t>FILES AND FILESYSTEMS</a:t>
            </a:r>
            <a:endParaRPr lang="en-US" dirty="0"/>
          </a:p>
        </p:txBody>
      </p:sp>
      <p:sp>
        <p:nvSpPr>
          <p:cNvPr id="3" name="Content Placeholder 2"/>
          <p:cNvSpPr>
            <a:spLocks noGrp="1"/>
          </p:cNvSpPr>
          <p:nvPr>
            <p:ph idx="1"/>
          </p:nvPr>
        </p:nvSpPr>
        <p:spPr>
          <a:xfrm>
            <a:off x="838200" y="1169582"/>
            <a:ext cx="10515600" cy="5380074"/>
          </a:xfrm>
        </p:spPr>
        <p:txBody>
          <a:bodyPr>
            <a:normAutofit fontScale="92500" lnSpcReduction="10000"/>
          </a:bodyPr>
          <a:lstStyle/>
          <a:p>
            <a:r>
              <a:rPr lang="en-US" dirty="0"/>
              <a:t>A </a:t>
            </a:r>
            <a:r>
              <a:rPr lang="en-US" b="1" dirty="0"/>
              <a:t>record </a:t>
            </a:r>
            <a:r>
              <a:rPr lang="en-US" dirty="0"/>
              <a:t>is a collection of related fields that can be treated as a unit by some application program. For example, an employee record would contain such fields as name, social security number, job classification, date of hire, and so on. Again, depending on design, records may be of fixed length or variable length.</a:t>
            </a:r>
          </a:p>
          <a:p>
            <a:r>
              <a:rPr lang="en-US" dirty="0"/>
              <a:t>A </a:t>
            </a:r>
            <a:r>
              <a:rPr lang="en-US" b="1" dirty="0"/>
              <a:t>file </a:t>
            </a:r>
            <a:r>
              <a:rPr lang="en-US" dirty="0"/>
              <a:t>is a collection of similar records. The file is treated as a single entity by users and applications and may be referenced by name. Files have file names and may be created and deleted. Access control restrictions usually apply at the file level. In a shared system, users and programs are granted or denied access to entire files.</a:t>
            </a:r>
          </a:p>
          <a:p>
            <a:r>
              <a:rPr lang="en-US" dirty="0"/>
              <a:t>A </a:t>
            </a:r>
            <a:r>
              <a:rPr lang="en-US" b="1" dirty="0"/>
              <a:t>database </a:t>
            </a:r>
            <a:r>
              <a:rPr lang="en-US" dirty="0"/>
              <a:t>is a collection of related data. The essential aspects of a database are that the relationships that exist among elements of data are explicit and that the database is designed for use by a number of different applications. A database may contain all of the information related to an organization or project, such as a business or a scientific study.</a:t>
            </a:r>
          </a:p>
          <a:p>
            <a:endParaRPr lang="en-US" dirty="0"/>
          </a:p>
        </p:txBody>
      </p:sp>
    </p:spTree>
    <p:extLst>
      <p:ext uri="{BB962C8B-B14F-4D97-AF65-F5344CB8AC3E}">
        <p14:creationId xmlns:p14="http://schemas.microsoft.com/office/powerpoint/2010/main" val="3431587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2651"/>
            <a:ext cx="10515600" cy="935665"/>
          </a:xfrm>
        </p:spPr>
        <p:txBody>
          <a:bodyPr/>
          <a:lstStyle/>
          <a:p>
            <a:pPr algn="ctr"/>
            <a:r>
              <a:rPr lang="en-US" b="1" dirty="0"/>
              <a:t>FILES AND FILESYSTEMS</a:t>
            </a:r>
            <a:endParaRPr lang="en-US" dirty="0"/>
          </a:p>
        </p:txBody>
      </p:sp>
      <p:sp>
        <p:nvSpPr>
          <p:cNvPr id="3" name="Content Placeholder 2"/>
          <p:cNvSpPr>
            <a:spLocks noGrp="1"/>
          </p:cNvSpPr>
          <p:nvPr>
            <p:ph idx="1"/>
          </p:nvPr>
        </p:nvSpPr>
        <p:spPr>
          <a:xfrm>
            <a:off x="838200" y="1297172"/>
            <a:ext cx="10515600" cy="5188688"/>
          </a:xfrm>
        </p:spPr>
        <p:txBody>
          <a:bodyPr>
            <a:normAutofit fontScale="92500" lnSpcReduction="10000"/>
          </a:bodyPr>
          <a:lstStyle/>
          <a:p>
            <a:pPr marL="0" indent="0">
              <a:buNone/>
            </a:pPr>
            <a:r>
              <a:rPr lang="en-US" b="1" dirty="0"/>
              <a:t>Objectives for a file management system:</a:t>
            </a:r>
            <a:endParaRPr lang="en-US" dirty="0"/>
          </a:p>
          <a:p>
            <a:r>
              <a:rPr lang="en-US" dirty="0"/>
              <a:t>To meet the data management needs and requirements of the user, which include storage of data and the ability to perform other file operations?</a:t>
            </a:r>
          </a:p>
          <a:p>
            <a:r>
              <a:rPr lang="en-US" dirty="0"/>
              <a:t>o guarantee, to the extent possible, that the data in the file are valid</a:t>
            </a:r>
          </a:p>
          <a:p>
            <a:r>
              <a:rPr lang="en-US" dirty="0"/>
              <a:t>To optimize performance, both from the system point of view in terms of overall throughput and from the user’s point of view in terms of response time</a:t>
            </a:r>
          </a:p>
          <a:p>
            <a:r>
              <a:rPr lang="en-US" dirty="0"/>
              <a:t>To provide I/O support for a variety of storage device types</a:t>
            </a:r>
          </a:p>
          <a:p>
            <a:r>
              <a:rPr lang="en-US" dirty="0"/>
              <a:t>o minimize or eliminate the potential for lost or destroyed data</a:t>
            </a:r>
          </a:p>
          <a:p>
            <a:r>
              <a:rPr lang="en-US" dirty="0"/>
              <a:t>To provide a standardized set of I/O interface routines to user processes</a:t>
            </a:r>
          </a:p>
          <a:p>
            <a:pPr marL="0" indent="0">
              <a:buNone/>
            </a:pPr>
            <a:r>
              <a:rPr lang="en-US" dirty="0"/>
              <a:t>• To provide I/O support for multiple users, in the case of multiple-user systems</a:t>
            </a:r>
          </a:p>
          <a:p>
            <a:endParaRPr lang="en-US" dirty="0"/>
          </a:p>
        </p:txBody>
      </p:sp>
    </p:spTree>
    <p:extLst>
      <p:ext uri="{BB962C8B-B14F-4D97-AF65-F5344CB8AC3E}">
        <p14:creationId xmlns:p14="http://schemas.microsoft.com/office/powerpoint/2010/main" val="126485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1386"/>
            <a:ext cx="10515600" cy="978196"/>
          </a:xfrm>
        </p:spPr>
        <p:txBody>
          <a:bodyPr/>
          <a:lstStyle/>
          <a:p>
            <a:pPr algn="ctr"/>
            <a:r>
              <a:rPr lang="en-US" b="1" dirty="0"/>
              <a:t>FILES AND FILESYSTEMS</a:t>
            </a:r>
            <a:endParaRPr lang="en-US" dirty="0"/>
          </a:p>
        </p:txBody>
      </p:sp>
      <p:sp>
        <p:nvSpPr>
          <p:cNvPr id="3" name="Content Placeholder 2"/>
          <p:cNvSpPr>
            <a:spLocks noGrp="1"/>
          </p:cNvSpPr>
          <p:nvPr>
            <p:ph idx="1"/>
          </p:nvPr>
        </p:nvSpPr>
        <p:spPr>
          <a:xfrm>
            <a:off x="838200" y="1169582"/>
            <a:ext cx="10515600" cy="5295013"/>
          </a:xfrm>
        </p:spPr>
        <p:txBody>
          <a:bodyPr/>
          <a:lstStyle/>
          <a:p>
            <a:pPr marL="0" indent="0">
              <a:buNone/>
            </a:pPr>
            <a:endParaRPr lang="en-US" b="1" dirty="0"/>
          </a:p>
          <a:p>
            <a:pPr marL="0" indent="0">
              <a:buNone/>
            </a:pPr>
            <a:r>
              <a:rPr lang="en-US" b="1" dirty="0"/>
              <a:t>File directories</a:t>
            </a:r>
            <a:endParaRPr lang="en-US" dirty="0"/>
          </a:p>
          <a:p>
            <a:r>
              <a:rPr lang="en-US" dirty="0"/>
              <a:t>Associated with any file management system and collection of files is a file directory.</a:t>
            </a:r>
          </a:p>
          <a:p>
            <a:r>
              <a:rPr lang="en-US" dirty="0"/>
              <a:t>The directory contains information about the files, including attributes, location, and ownership. </a:t>
            </a:r>
          </a:p>
          <a:p>
            <a:r>
              <a:rPr lang="en-US" dirty="0"/>
              <a:t>Much of this information especially that concerned with storage is managed by the operating system. </a:t>
            </a:r>
          </a:p>
          <a:p>
            <a:r>
              <a:rPr lang="en-US" dirty="0"/>
              <a:t>The directory is itself a file, accessible by various file management routines.</a:t>
            </a:r>
          </a:p>
          <a:p>
            <a:endParaRPr lang="en-US" dirty="0"/>
          </a:p>
        </p:txBody>
      </p:sp>
    </p:spTree>
    <p:extLst>
      <p:ext uri="{BB962C8B-B14F-4D97-AF65-F5344CB8AC3E}">
        <p14:creationId xmlns:p14="http://schemas.microsoft.com/office/powerpoint/2010/main" val="4181223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2651"/>
            <a:ext cx="10515600" cy="914401"/>
          </a:xfrm>
        </p:spPr>
        <p:txBody>
          <a:bodyPr/>
          <a:lstStyle/>
          <a:p>
            <a:pPr algn="ctr"/>
            <a:r>
              <a:rPr lang="en-US" b="1" dirty="0"/>
              <a:t>FILES AND FILESYSTEMS</a:t>
            </a:r>
            <a:endParaRPr lang="en-US" dirty="0"/>
          </a:p>
        </p:txBody>
      </p:sp>
      <p:sp>
        <p:nvSpPr>
          <p:cNvPr id="3" name="Content Placeholder 2"/>
          <p:cNvSpPr>
            <a:spLocks noGrp="1"/>
          </p:cNvSpPr>
          <p:nvPr>
            <p:ph idx="1"/>
          </p:nvPr>
        </p:nvSpPr>
        <p:spPr>
          <a:xfrm>
            <a:off x="838200" y="1127052"/>
            <a:ext cx="10515600" cy="5422604"/>
          </a:xfrm>
        </p:spPr>
        <p:txBody>
          <a:bodyPr/>
          <a:lstStyle/>
          <a:p>
            <a:pPr marL="0" indent="0">
              <a:buNone/>
            </a:pPr>
            <a:r>
              <a:rPr lang="en-US" b="1" dirty="0"/>
              <a:t>Directory Structure</a:t>
            </a:r>
            <a:endParaRPr lang="en-US" dirty="0"/>
          </a:p>
          <a:p>
            <a:r>
              <a:rPr lang="en-US" dirty="0"/>
              <a:t>The simplest form of structure for a directory is that of a list of entries, one for each file. </a:t>
            </a:r>
          </a:p>
          <a:p>
            <a:r>
              <a:rPr lang="en-US" dirty="0"/>
              <a:t>This structure could be represented by a simple sequential file, with the name of the file serving as the key.</a:t>
            </a:r>
          </a:p>
          <a:p>
            <a:pPr marL="0" indent="0">
              <a:buNone/>
            </a:pPr>
            <a:r>
              <a:rPr lang="en-US" dirty="0"/>
              <a:t>To understand the requirements for a file structure, it is helpful to consider the types of operations that may be performed on the directory:</a:t>
            </a:r>
          </a:p>
          <a:p>
            <a:pPr marL="0" indent="0">
              <a:buNone/>
            </a:pPr>
            <a:r>
              <a:rPr lang="en-US" dirty="0"/>
              <a:t>• </a:t>
            </a:r>
            <a:r>
              <a:rPr lang="en-US" b="1" dirty="0"/>
              <a:t>Search: </a:t>
            </a:r>
            <a:r>
              <a:rPr lang="en-US" dirty="0"/>
              <a:t>When a user or application references a file, the directory must be searched to find the entry corresponding to that file.</a:t>
            </a:r>
          </a:p>
          <a:p>
            <a:pPr marL="0" indent="0">
              <a:buNone/>
            </a:pPr>
            <a:r>
              <a:rPr lang="en-US" dirty="0"/>
              <a:t>• </a:t>
            </a:r>
            <a:r>
              <a:rPr lang="en-US" b="1" dirty="0"/>
              <a:t>Create file: </a:t>
            </a:r>
            <a:r>
              <a:rPr lang="en-US" dirty="0"/>
              <a:t>When a new file is created, an entry must be added to the directory.</a:t>
            </a:r>
          </a:p>
          <a:p>
            <a:endParaRPr lang="en-US" dirty="0"/>
          </a:p>
          <a:p>
            <a:endParaRPr lang="en-US" dirty="0"/>
          </a:p>
        </p:txBody>
      </p:sp>
    </p:spTree>
    <p:extLst>
      <p:ext uri="{BB962C8B-B14F-4D97-AF65-F5344CB8AC3E}">
        <p14:creationId xmlns:p14="http://schemas.microsoft.com/office/powerpoint/2010/main" val="934419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8855"/>
            <a:ext cx="10515600" cy="893135"/>
          </a:xfrm>
        </p:spPr>
        <p:txBody>
          <a:bodyPr/>
          <a:lstStyle/>
          <a:p>
            <a:pPr algn="ctr"/>
            <a:r>
              <a:rPr lang="en-US" b="1" dirty="0"/>
              <a:t>FILES AND FILESYSTEMS</a:t>
            </a:r>
            <a:endParaRPr lang="en-US" dirty="0"/>
          </a:p>
        </p:txBody>
      </p:sp>
      <p:sp>
        <p:nvSpPr>
          <p:cNvPr id="3" name="Content Placeholder 2"/>
          <p:cNvSpPr>
            <a:spLocks noGrp="1"/>
          </p:cNvSpPr>
          <p:nvPr>
            <p:ph idx="1"/>
          </p:nvPr>
        </p:nvSpPr>
        <p:spPr>
          <a:xfrm>
            <a:off x="838200" y="1041991"/>
            <a:ext cx="10515600" cy="5134972"/>
          </a:xfrm>
        </p:spPr>
        <p:txBody>
          <a:bodyPr/>
          <a:lstStyle/>
          <a:p>
            <a:r>
              <a:rPr lang="en-US" b="1" dirty="0"/>
              <a:t>Delete file: </a:t>
            </a:r>
            <a:r>
              <a:rPr lang="en-US" dirty="0"/>
              <a:t>When a file is deleted, an entry must be removed from the directory.</a:t>
            </a:r>
          </a:p>
          <a:p>
            <a:r>
              <a:rPr lang="en-US" b="1" dirty="0"/>
              <a:t>List directory: </a:t>
            </a:r>
            <a:r>
              <a:rPr lang="en-US" dirty="0"/>
              <a:t>All or a portion of the directory may be requested. Generally, this request is made by a user and results in a listing of all files owned by that user, plus some of the attributes of each file (e.g., type, access control information, usage information).</a:t>
            </a:r>
          </a:p>
          <a:p>
            <a:r>
              <a:rPr lang="en-US" b="1" dirty="0"/>
              <a:t>Update directory: </a:t>
            </a:r>
            <a:r>
              <a:rPr lang="en-US" dirty="0"/>
              <a:t>Because some file attributes are stored in the directory, a change in one of these attributes requires a change in the corresponding directory entry.</a:t>
            </a:r>
          </a:p>
          <a:p>
            <a:endParaRPr lang="en-US" dirty="0"/>
          </a:p>
        </p:txBody>
      </p:sp>
    </p:spTree>
    <p:extLst>
      <p:ext uri="{BB962C8B-B14F-4D97-AF65-F5344CB8AC3E}">
        <p14:creationId xmlns:p14="http://schemas.microsoft.com/office/powerpoint/2010/main" val="3231052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2651"/>
            <a:ext cx="10515600" cy="914401"/>
          </a:xfrm>
        </p:spPr>
        <p:txBody>
          <a:bodyPr/>
          <a:lstStyle/>
          <a:p>
            <a:pPr algn="ctr"/>
            <a:r>
              <a:rPr lang="en-US" b="1" dirty="0"/>
              <a:t>FILES AND FILESYSTEMS</a:t>
            </a:r>
            <a:endParaRPr lang="en-US" dirty="0"/>
          </a:p>
        </p:txBody>
      </p:sp>
      <p:sp>
        <p:nvSpPr>
          <p:cNvPr id="3" name="Content Placeholder 2"/>
          <p:cNvSpPr>
            <a:spLocks noGrp="1"/>
          </p:cNvSpPr>
          <p:nvPr>
            <p:ph idx="1"/>
          </p:nvPr>
        </p:nvSpPr>
        <p:spPr>
          <a:xfrm>
            <a:off x="838200" y="1127052"/>
            <a:ext cx="10515600" cy="5337543"/>
          </a:xfrm>
        </p:spPr>
        <p:txBody>
          <a:bodyPr/>
          <a:lstStyle/>
          <a:p>
            <a:pPr marL="0" indent="0">
              <a:buNone/>
            </a:pPr>
            <a:r>
              <a:rPr lang="en-US" b="1" dirty="0"/>
              <a:t>Tree-Structured directory</a:t>
            </a:r>
          </a:p>
          <a:p>
            <a:pPr marL="0" indent="0">
              <a:buNone/>
            </a:pPr>
            <a:endParaRPr lang="en-US" dirty="0"/>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7536" y="1796903"/>
            <a:ext cx="8198938" cy="4837813"/>
          </a:xfrm>
          <a:prstGeom prst="rect">
            <a:avLst/>
          </a:prstGeom>
          <a:noFill/>
          <a:extLst>
            <a:ext uri="{909E8E84-426E-40DD-AFC4-6F175D3DCCD1}">
              <a14:hiddenFill xmlns:a14="http://schemas.microsoft.com/office/drawing/2010/main">
                <a:solidFill>
                  <a:srgbClr val="00CC99"/>
                </a:solidFill>
              </a14:hiddenFill>
            </a:ext>
          </a:extLst>
        </p:spPr>
      </p:pic>
    </p:spTree>
    <p:extLst>
      <p:ext uri="{BB962C8B-B14F-4D97-AF65-F5344CB8AC3E}">
        <p14:creationId xmlns:p14="http://schemas.microsoft.com/office/powerpoint/2010/main" val="1511921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020726"/>
          </a:xfrm>
        </p:spPr>
        <p:txBody>
          <a:bodyPr/>
          <a:lstStyle/>
          <a:p>
            <a:pPr algn="ctr"/>
            <a:r>
              <a:rPr lang="en-US" b="1" dirty="0"/>
              <a:t>FILES AND FILESYSTEMS</a:t>
            </a:r>
            <a:endParaRPr lang="en-US" dirty="0"/>
          </a:p>
        </p:txBody>
      </p:sp>
      <p:sp>
        <p:nvSpPr>
          <p:cNvPr id="3" name="Content Placeholder 2"/>
          <p:cNvSpPr>
            <a:spLocks noGrp="1"/>
          </p:cNvSpPr>
          <p:nvPr>
            <p:ph idx="1"/>
          </p:nvPr>
        </p:nvSpPr>
        <p:spPr>
          <a:xfrm>
            <a:off x="838200" y="1190846"/>
            <a:ext cx="10515600" cy="5209953"/>
          </a:xfrm>
        </p:spPr>
        <p:txBody>
          <a:bodyPr/>
          <a:lstStyle/>
          <a:p>
            <a:r>
              <a:rPr lang="en-US" dirty="0"/>
              <a:t>Directory structure; To organize files, many systems provide a hierarchical file system arrangement. It can have files, and then directories of files. Common arrangement: tree of files. Naming can be absolute, relative, or both. </a:t>
            </a:r>
          </a:p>
          <a:p>
            <a:r>
              <a:rPr lang="en-US" dirty="0"/>
              <a:t>A more powerful and flexible approach, and one that is almost universally adopted, is the hierarchical, or tree-structure, approach.</a:t>
            </a:r>
          </a:p>
          <a:p>
            <a:r>
              <a:rPr lang="en-US" dirty="0"/>
              <a:t>In tree structure approach, there is a master directory, which has under it a number of user directories. </a:t>
            </a:r>
          </a:p>
          <a:p>
            <a:r>
              <a:rPr lang="en-US" dirty="0"/>
              <a:t>Each of these user directories, in turn, may have subdirectories and files as entries. This is true at any level: That is, at any level, a directory may consist of entries for subdirectories and/or entries for files.</a:t>
            </a:r>
          </a:p>
          <a:p>
            <a:endParaRPr lang="en-US" dirty="0"/>
          </a:p>
        </p:txBody>
      </p:sp>
    </p:spTree>
    <p:extLst>
      <p:ext uri="{BB962C8B-B14F-4D97-AF65-F5344CB8AC3E}">
        <p14:creationId xmlns:p14="http://schemas.microsoft.com/office/powerpoint/2010/main" val="1105268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0121"/>
            <a:ext cx="10515600" cy="871871"/>
          </a:xfrm>
        </p:spPr>
        <p:txBody>
          <a:bodyPr>
            <a:normAutofit/>
          </a:bodyPr>
          <a:lstStyle/>
          <a:p>
            <a:pPr algn="ctr"/>
            <a:r>
              <a:rPr lang="en-US" b="1" dirty="0"/>
              <a:t>FILES AND FILESYSTEMS</a:t>
            </a:r>
            <a:endParaRPr lang="en-US" dirty="0"/>
          </a:p>
        </p:txBody>
      </p:sp>
      <p:sp>
        <p:nvSpPr>
          <p:cNvPr id="3" name="Content Placeholder 2"/>
          <p:cNvSpPr>
            <a:spLocks noGrp="1"/>
          </p:cNvSpPr>
          <p:nvPr>
            <p:ph idx="1"/>
          </p:nvPr>
        </p:nvSpPr>
        <p:spPr>
          <a:xfrm>
            <a:off x="838200" y="1041991"/>
            <a:ext cx="10515600" cy="5571459"/>
          </a:xfrm>
        </p:spPr>
        <p:txBody>
          <a:bodyPr/>
          <a:lstStyle/>
          <a:p>
            <a:pPr marL="0" indent="0">
              <a:buNone/>
            </a:pPr>
            <a:r>
              <a:rPr lang="en-US" b="1" dirty="0"/>
              <a:t>Naming</a:t>
            </a:r>
            <a:endParaRPr lang="en-US" dirty="0"/>
          </a:p>
          <a:p>
            <a:r>
              <a:rPr lang="en-US" dirty="0"/>
              <a:t>Users need to be able to refer to a file by a symbolic name. Clearly, each file in the system must have a unique name in order that file references be unambiguous. </a:t>
            </a:r>
          </a:p>
          <a:p>
            <a:r>
              <a:rPr lang="en-US" dirty="0"/>
              <a:t>On the other hand, it is an unacceptable burden on users to require that they provide unique names, especially in a shared system.</a:t>
            </a:r>
          </a:p>
          <a:p>
            <a:r>
              <a:rPr lang="en-US" dirty="0"/>
              <a:t>The use of a tree-structured directory minimizes the difficulty in assigning unique names. </a:t>
            </a:r>
          </a:p>
          <a:p>
            <a:r>
              <a:rPr lang="en-US" dirty="0"/>
              <a:t>Any file in the system can be located by following a path from the root or master directory down various branches until the file is reached.</a:t>
            </a:r>
          </a:p>
          <a:p>
            <a:r>
              <a:rPr lang="en-US" dirty="0"/>
              <a:t>The series of directory names, ending with the file name itself, constitutes a </a:t>
            </a:r>
            <a:r>
              <a:rPr lang="en-US" b="1" dirty="0"/>
              <a:t>pathname </a:t>
            </a:r>
            <a:r>
              <a:rPr lang="en-US" dirty="0"/>
              <a:t>for the file.</a:t>
            </a:r>
          </a:p>
          <a:p>
            <a:endParaRPr lang="en-US" dirty="0"/>
          </a:p>
        </p:txBody>
      </p:sp>
    </p:spTree>
    <p:extLst>
      <p:ext uri="{BB962C8B-B14F-4D97-AF65-F5344CB8AC3E}">
        <p14:creationId xmlns:p14="http://schemas.microsoft.com/office/powerpoint/2010/main" val="29774432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2651"/>
            <a:ext cx="10515600" cy="914401"/>
          </a:xfrm>
        </p:spPr>
        <p:txBody>
          <a:bodyPr/>
          <a:lstStyle/>
          <a:p>
            <a:pPr algn="ctr"/>
            <a:r>
              <a:rPr lang="en-US" b="1" dirty="0"/>
              <a:t>FILES AND FILESYSTEMS</a:t>
            </a:r>
            <a:endParaRPr lang="en-US" dirty="0"/>
          </a:p>
        </p:txBody>
      </p:sp>
      <p:sp>
        <p:nvSpPr>
          <p:cNvPr id="3" name="Content Placeholder 2"/>
          <p:cNvSpPr>
            <a:spLocks noGrp="1"/>
          </p:cNvSpPr>
          <p:nvPr>
            <p:ph idx="1"/>
          </p:nvPr>
        </p:nvSpPr>
        <p:spPr>
          <a:xfrm>
            <a:off x="838200" y="1127052"/>
            <a:ext cx="10515600" cy="5380074"/>
          </a:xfrm>
        </p:spPr>
        <p:txBody>
          <a:bodyPr/>
          <a:lstStyle/>
          <a:p>
            <a:r>
              <a:rPr lang="en-US" dirty="0"/>
              <a:t>As an example, a file can have the pathname </a:t>
            </a:r>
            <a:r>
              <a:rPr lang="en-US" dirty="0" err="1" smtClean="0"/>
              <a:t>UserB</a:t>
            </a:r>
            <a:r>
              <a:rPr lang="en-US" dirty="0" smtClean="0"/>
              <a:t>\</a:t>
            </a:r>
            <a:r>
              <a:rPr lang="en-US" dirty="0" smtClean="0"/>
              <a:t>Word\</a:t>
            </a:r>
            <a:r>
              <a:rPr lang="en-US" dirty="0" err="1" smtClean="0"/>
              <a:t>UnitA</a:t>
            </a:r>
            <a:r>
              <a:rPr lang="en-US" dirty="0"/>
              <a:t>\</a:t>
            </a:r>
            <a:r>
              <a:rPr lang="en-US" dirty="0" smtClean="0"/>
              <a:t>ABC</a:t>
            </a:r>
            <a:r>
              <a:rPr lang="en-US" dirty="0"/>
              <a:t>. The slash is used to delimit names in the sequence. </a:t>
            </a:r>
          </a:p>
          <a:p>
            <a:r>
              <a:rPr lang="en-US" dirty="0"/>
              <a:t>The name of the master directory is implicit, because all paths start at that directory. </a:t>
            </a:r>
          </a:p>
          <a:p>
            <a:r>
              <a:rPr lang="en-US" dirty="0"/>
              <a:t>Note that it is perfectly acceptable to have several files with the same file name, as long as they have unique pathnames, which is equivalent to saying that the same file name may be used in different directories.</a:t>
            </a:r>
          </a:p>
          <a:p>
            <a:r>
              <a:rPr lang="en-US" dirty="0"/>
              <a:t> Typically, an interactive user or a process has associated with it a current directory, often referred to as the </a:t>
            </a:r>
            <a:r>
              <a:rPr lang="en-US" b="1" dirty="0"/>
              <a:t>working directory</a:t>
            </a:r>
            <a:r>
              <a:rPr lang="en-US" dirty="0"/>
              <a:t>. Files are then referenced relative to the working directory.</a:t>
            </a:r>
          </a:p>
          <a:p>
            <a:endParaRPr lang="en-US" dirty="0"/>
          </a:p>
          <a:p>
            <a:endParaRPr lang="en-US" dirty="0"/>
          </a:p>
          <a:p>
            <a:endParaRPr lang="en-US" dirty="0"/>
          </a:p>
        </p:txBody>
      </p:sp>
    </p:spTree>
    <p:extLst>
      <p:ext uri="{BB962C8B-B14F-4D97-AF65-F5344CB8AC3E}">
        <p14:creationId xmlns:p14="http://schemas.microsoft.com/office/powerpoint/2010/main" val="3549478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5181"/>
            <a:ext cx="10515600" cy="850605"/>
          </a:xfrm>
        </p:spPr>
        <p:txBody>
          <a:bodyPr/>
          <a:lstStyle/>
          <a:p>
            <a:pPr algn="ctr"/>
            <a:r>
              <a:rPr lang="en-US" b="1" dirty="0"/>
              <a:t>FILES AND FILESYSTEMS</a:t>
            </a:r>
            <a:endParaRPr lang="en-US" dirty="0"/>
          </a:p>
        </p:txBody>
      </p:sp>
      <p:sp>
        <p:nvSpPr>
          <p:cNvPr id="3" name="Content Placeholder 2"/>
          <p:cNvSpPr>
            <a:spLocks noGrp="1"/>
          </p:cNvSpPr>
          <p:nvPr>
            <p:ph idx="1"/>
          </p:nvPr>
        </p:nvSpPr>
        <p:spPr>
          <a:xfrm>
            <a:off x="838200" y="1105786"/>
            <a:ext cx="10515600" cy="5209954"/>
          </a:xfrm>
        </p:spPr>
        <p:txBody>
          <a:bodyPr>
            <a:normAutofit lnSpcReduction="10000"/>
          </a:bodyPr>
          <a:lstStyle/>
          <a:p>
            <a:pPr marL="0" indent="0">
              <a:buNone/>
            </a:pPr>
            <a:r>
              <a:rPr lang="en-US" b="1" dirty="0"/>
              <a:t>Directory table</a:t>
            </a:r>
            <a:endParaRPr lang="en-US" dirty="0"/>
          </a:p>
          <a:p>
            <a:r>
              <a:rPr lang="en-US" dirty="0"/>
              <a:t>This is a list of subdirectories and files. When a physical drive is first installed, it can be divided into one or more logical drives such as drive C and drive D. These logical drives are sometimes called volumes.</a:t>
            </a:r>
          </a:p>
          <a:p>
            <a:pPr marL="0" indent="0">
              <a:buNone/>
            </a:pPr>
            <a:r>
              <a:rPr lang="en-US" b="1" dirty="0"/>
              <a:t>Root directory</a:t>
            </a:r>
            <a:endParaRPr lang="en-US" dirty="0"/>
          </a:p>
          <a:p>
            <a:r>
              <a:rPr lang="en-US" dirty="0"/>
              <a:t>When each logical drive is formatted, a single directory table is placed on the drive called the root directory. </a:t>
            </a:r>
          </a:p>
          <a:p>
            <a:r>
              <a:rPr lang="en-US" dirty="0"/>
              <a:t>For a logical drive such as C the root directory is written as C:\. This root directory can hold files or other directories, which can have names such as C:\Tools. </a:t>
            </a:r>
          </a:p>
          <a:p>
            <a:r>
              <a:rPr lang="en-US" dirty="0"/>
              <a:t>These directories are called subdirectories, child directories, or folders. </a:t>
            </a:r>
          </a:p>
          <a:p>
            <a:endParaRPr lang="en-US" dirty="0"/>
          </a:p>
        </p:txBody>
      </p:sp>
    </p:spTree>
    <p:extLst>
      <p:ext uri="{BB962C8B-B14F-4D97-AF65-F5344CB8AC3E}">
        <p14:creationId xmlns:p14="http://schemas.microsoft.com/office/powerpoint/2010/main" val="1742367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FILES AND FILESYSTEMS</a:t>
            </a:r>
            <a:endParaRPr lang="en-US" dirty="0"/>
          </a:p>
        </p:txBody>
      </p:sp>
      <p:sp>
        <p:nvSpPr>
          <p:cNvPr id="3" name="Content Placeholder 2"/>
          <p:cNvSpPr>
            <a:spLocks noGrp="1"/>
          </p:cNvSpPr>
          <p:nvPr>
            <p:ph idx="1"/>
          </p:nvPr>
        </p:nvSpPr>
        <p:spPr/>
        <p:txBody>
          <a:bodyPr>
            <a:normAutofit/>
          </a:bodyPr>
          <a:lstStyle/>
          <a:p>
            <a:pPr marL="0" indent="0">
              <a:buNone/>
            </a:pPr>
            <a:r>
              <a:rPr lang="en-US" b="1" dirty="0"/>
              <a:t>File integrity	</a:t>
            </a:r>
            <a:endParaRPr lang="en-US" dirty="0"/>
          </a:p>
          <a:p>
            <a:r>
              <a:rPr lang="en-US" dirty="0"/>
              <a:t>File-system integrity refers to whether the file-system contains errors. Sometimes this is caused by a user turning off the computer system without first shutting the computer down properly.</a:t>
            </a:r>
            <a:endParaRPr lang="en-US" b="1" dirty="0"/>
          </a:p>
          <a:p>
            <a:pPr marL="0" indent="0">
              <a:buNone/>
            </a:pPr>
            <a:r>
              <a:rPr lang="en-US" b="1" dirty="0"/>
              <a:t>File confidentiality									</a:t>
            </a:r>
            <a:endParaRPr lang="en-US" dirty="0"/>
          </a:p>
          <a:p>
            <a:r>
              <a:rPr lang="en-US" dirty="0"/>
              <a:t>Security measures to protect files from unauthorized access, malicious destruction or alteration and accidental introduction of inconsistency.</a:t>
            </a:r>
          </a:p>
          <a:p>
            <a:endParaRPr lang="en-US" dirty="0"/>
          </a:p>
          <a:p>
            <a:endParaRPr lang="en-US" dirty="0"/>
          </a:p>
        </p:txBody>
      </p:sp>
    </p:spTree>
    <p:extLst>
      <p:ext uri="{BB962C8B-B14F-4D97-AF65-F5344CB8AC3E}">
        <p14:creationId xmlns:p14="http://schemas.microsoft.com/office/powerpoint/2010/main" val="421903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0121"/>
            <a:ext cx="10515600" cy="871871"/>
          </a:xfrm>
        </p:spPr>
        <p:txBody>
          <a:bodyPr>
            <a:normAutofit/>
          </a:bodyPr>
          <a:lstStyle/>
          <a:p>
            <a:pPr algn="ctr"/>
            <a:r>
              <a:rPr lang="en-US" b="1" dirty="0"/>
              <a:t>FILES AND FILESYSTEMS</a:t>
            </a:r>
            <a:endParaRPr lang="en-US" dirty="0"/>
          </a:p>
        </p:txBody>
      </p:sp>
      <p:sp>
        <p:nvSpPr>
          <p:cNvPr id="3" name="Content Placeholder 2"/>
          <p:cNvSpPr>
            <a:spLocks noGrp="1"/>
          </p:cNvSpPr>
          <p:nvPr>
            <p:ph idx="1"/>
          </p:nvPr>
        </p:nvSpPr>
        <p:spPr>
          <a:xfrm>
            <a:off x="838200" y="1254642"/>
            <a:ext cx="10515600" cy="5252484"/>
          </a:xfrm>
        </p:spPr>
        <p:txBody>
          <a:bodyPr/>
          <a:lstStyle/>
          <a:p>
            <a:pPr marL="0" indent="0">
              <a:buNone/>
            </a:pPr>
            <a:r>
              <a:rPr lang="en-US" b="1" dirty="0"/>
              <a:t>File sharing</a:t>
            </a:r>
            <a:endParaRPr lang="en-US" dirty="0"/>
          </a:p>
          <a:p>
            <a:r>
              <a:rPr lang="en-US" dirty="0"/>
              <a:t>In a multiuser system, there is almost always a requirement for allowing files to be shared among a number of users. Two issues arise: access rights and the management of simultaneous access.</a:t>
            </a:r>
          </a:p>
          <a:p>
            <a:pPr marL="0" indent="0">
              <a:buNone/>
            </a:pPr>
            <a:r>
              <a:rPr lang="en-US" b="1" dirty="0"/>
              <a:t>Access Rights</a:t>
            </a:r>
            <a:endParaRPr lang="en-US" dirty="0"/>
          </a:p>
          <a:p>
            <a:r>
              <a:rPr lang="en-US" dirty="0"/>
              <a:t>The file system should provide a flexible tool for allowing extensive file sharing among users. </a:t>
            </a:r>
          </a:p>
          <a:p>
            <a:r>
              <a:rPr lang="en-US" dirty="0"/>
              <a:t>The file system should provide a number of options so that the way in which a particular file is accessed can be controlled. </a:t>
            </a:r>
          </a:p>
          <a:p>
            <a:r>
              <a:rPr lang="en-US" dirty="0"/>
              <a:t>Typically, users or groups of users are granted certain access rights to a file. A wide range of access rights has been used.</a:t>
            </a:r>
          </a:p>
        </p:txBody>
      </p:sp>
    </p:spTree>
    <p:extLst>
      <p:ext uri="{BB962C8B-B14F-4D97-AF65-F5344CB8AC3E}">
        <p14:creationId xmlns:p14="http://schemas.microsoft.com/office/powerpoint/2010/main" val="1799189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0121"/>
            <a:ext cx="10515600" cy="956931"/>
          </a:xfrm>
        </p:spPr>
        <p:txBody>
          <a:bodyPr/>
          <a:lstStyle/>
          <a:p>
            <a:pPr algn="ctr"/>
            <a:r>
              <a:rPr lang="en-US" b="1" dirty="0"/>
              <a:t>FILES AND FILESYSTEMS</a:t>
            </a:r>
            <a:endParaRPr lang="en-US" dirty="0"/>
          </a:p>
        </p:txBody>
      </p:sp>
      <p:sp>
        <p:nvSpPr>
          <p:cNvPr id="3" name="Content Placeholder 2"/>
          <p:cNvSpPr>
            <a:spLocks noGrp="1"/>
          </p:cNvSpPr>
          <p:nvPr>
            <p:ph idx="1"/>
          </p:nvPr>
        </p:nvSpPr>
        <p:spPr>
          <a:xfrm>
            <a:off x="838200" y="1318437"/>
            <a:ext cx="10515600" cy="4858526"/>
          </a:xfrm>
        </p:spPr>
        <p:txBody>
          <a:bodyPr>
            <a:normAutofit lnSpcReduction="10000"/>
          </a:bodyPr>
          <a:lstStyle/>
          <a:p>
            <a:pPr marL="0" indent="0">
              <a:buNone/>
            </a:pPr>
            <a:r>
              <a:rPr lang="en-US" dirty="0"/>
              <a:t>The following list is representative of access rights that can be assigned to a particular user for a particular file:</a:t>
            </a:r>
          </a:p>
          <a:p>
            <a:pPr marL="0" indent="0">
              <a:buNone/>
            </a:pPr>
            <a:endParaRPr lang="en-US" dirty="0"/>
          </a:p>
          <a:p>
            <a:r>
              <a:rPr lang="en-US" b="1" dirty="0"/>
              <a:t>None: </a:t>
            </a:r>
            <a:r>
              <a:rPr lang="en-US" dirty="0"/>
              <a:t>The user may not even learn of the existence of the file, much less access it. To enforce this restriction, the user would not be allowed to read the user directory that includes this file.</a:t>
            </a:r>
          </a:p>
          <a:p>
            <a:r>
              <a:rPr lang="en-US" b="1" dirty="0"/>
              <a:t>Knowledge: </a:t>
            </a:r>
            <a:r>
              <a:rPr lang="en-US" dirty="0"/>
              <a:t>The user can determine that the file exists and who its owner is. The user is then able to petition the owner for additional access rights.</a:t>
            </a:r>
          </a:p>
          <a:p>
            <a:r>
              <a:rPr lang="en-US" b="1" dirty="0"/>
              <a:t>Execution: </a:t>
            </a:r>
            <a:r>
              <a:rPr lang="en-US" dirty="0"/>
              <a:t>The user can load and execute a program but cannot copy it. Proprietary programs are often made accessible with this restriction.</a:t>
            </a:r>
          </a:p>
          <a:p>
            <a:endParaRPr lang="en-US" dirty="0"/>
          </a:p>
        </p:txBody>
      </p:sp>
    </p:spTree>
    <p:extLst>
      <p:ext uri="{BB962C8B-B14F-4D97-AF65-F5344CB8AC3E}">
        <p14:creationId xmlns:p14="http://schemas.microsoft.com/office/powerpoint/2010/main" val="17682255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2651"/>
            <a:ext cx="10515600" cy="744279"/>
          </a:xfrm>
        </p:spPr>
        <p:txBody>
          <a:bodyPr/>
          <a:lstStyle/>
          <a:p>
            <a:pPr algn="ctr"/>
            <a:r>
              <a:rPr lang="en-US" b="1" dirty="0"/>
              <a:t>FILES AND FILESYSTEMS</a:t>
            </a:r>
            <a:endParaRPr lang="en-US" dirty="0"/>
          </a:p>
        </p:txBody>
      </p:sp>
      <p:sp>
        <p:nvSpPr>
          <p:cNvPr id="3" name="Content Placeholder 2"/>
          <p:cNvSpPr>
            <a:spLocks noGrp="1"/>
          </p:cNvSpPr>
          <p:nvPr>
            <p:ph idx="1"/>
          </p:nvPr>
        </p:nvSpPr>
        <p:spPr>
          <a:xfrm>
            <a:off x="838200" y="956930"/>
            <a:ext cx="10515600" cy="5677786"/>
          </a:xfrm>
        </p:spPr>
        <p:txBody>
          <a:bodyPr>
            <a:normAutofit fontScale="92500" lnSpcReduction="20000"/>
          </a:bodyPr>
          <a:lstStyle/>
          <a:p>
            <a:r>
              <a:rPr lang="en-US" b="1" dirty="0"/>
              <a:t>Reading: </a:t>
            </a:r>
            <a:r>
              <a:rPr lang="en-US" dirty="0"/>
              <a:t>The user can read the file for any purpose, including copying and execution. Some systems are able to enforce a distinction between viewing and copying. In the former case, the contents of the file can be displayed to the user, but the user has no means for making a copy.</a:t>
            </a:r>
          </a:p>
          <a:p>
            <a:r>
              <a:rPr lang="en-US" b="1" dirty="0"/>
              <a:t>Appending</a:t>
            </a:r>
            <a:r>
              <a:rPr lang="en-US" dirty="0"/>
              <a:t>: The user can add data to the file, often only at the end, but cannot modify or delete any of the file’s contents. This right is useful in collecting data from a number of sources.</a:t>
            </a:r>
          </a:p>
          <a:p>
            <a:r>
              <a:rPr lang="en-US" b="1" dirty="0"/>
              <a:t>Updating</a:t>
            </a:r>
            <a:r>
              <a:rPr lang="en-US" dirty="0"/>
              <a:t>: The user can modify, delete, and add to the file’s data. This normally includes writing the file initially, rewriting it completely or in part, and removing all or a portion of the data. Some systems distinguish among different degrees of updating.</a:t>
            </a:r>
          </a:p>
          <a:p>
            <a:r>
              <a:rPr lang="en-US" b="1" dirty="0"/>
              <a:t>Changing protection</a:t>
            </a:r>
            <a:r>
              <a:rPr lang="en-US" dirty="0"/>
              <a:t>: The user can change the access rights granted to other users. Typically, this right is held only by the owner of the file. In some systems, the owner can extend this right to others. To prevent abuse of this mechanism, the file owner will typically be able to specify which rights can be changed by the holder of this right.</a:t>
            </a:r>
          </a:p>
          <a:p>
            <a:r>
              <a:rPr lang="en-US" b="1" dirty="0"/>
              <a:t>Deletion: </a:t>
            </a:r>
            <a:r>
              <a:rPr lang="en-US" dirty="0"/>
              <a:t>The user can delete the file from the file system.</a:t>
            </a:r>
          </a:p>
          <a:p>
            <a:endParaRPr lang="en-US" dirty="0"/>
          </a:p>
        </p:txBody>
      </p:sp>
    </p:spTree>
    <p:extLst>
      <p:ext uri="{BB962C8B-B14F-4D97-AF65-F5344CB8AC3E}">
        <p14:creationId xmlns:p14="http://schemas.microsoft.com/office/powerpoint/2010/main" val="5533657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1386"/>
            <a:ext cx="10515600" cy="850606"/>
          </a:xfrm>
        </p:spPr>
        <p:txBody>
          <a:bodyPr>
            <a:normAutofit/>
          </a:bodyPr>
          <a:lstStyle/>
          <a:p>
            <a:pPr algn="ctr"/>
            <a:r>
              <a:rPr lang="en-US" b="1" dirty="0"/>
              <a:t>FILES AND FILESYSTEMS</a:t>
            </a:r>
            <a:endParaRPr lang="en-US" dirty="0"/>
          </a:p>
        </p:txBody>
      </p:sp>
      <p:sp>
        <p:nvSpPr>
          <p:cNvPr id="3" name="Content Placeholder 2"/>
          <p:cNvSpPr>
            <a:spLocks noGrp="1"/>
          </p:cNvSpPr>
          <p:nvPr>
            <p:ph idx="1"/>
          </p:nvPr>
        </p:nvSpPr>
        <p:spPr>
          <a:xfrm>
            <a:off x="838200" y="1233376"/>
            <a:ext cx="10515600" cy="5167423"/>
          </a:xfrm>
        </p:spPr>
        <p:txBody>
          <a:bodyPr>
            <a:normAutofit fontScale="92500"/>
          </a:bodyPr>
          <a:lstStyle/>
          <a:p>
            <a:r>
              <a:rPr lang="en-US" dirty="0"/>
              <a:t>These rights can be considered to constitute a hierarchy, with each right implying those that precede it. Thus, if a particular user is granted the updating right for a particular file, then that user is also granted the following rights: knowledge, execution, reading, and appending. </a:t>
            </a:r>
          </a:p>
          <a:p>
            <a:r>
              <a:rPr lang="en-US" dirty="0"/>
              <a:t>One user is designated as owner of a given file, usually the person who initially created a file. The owner has all of the access rights listed previously and may grant rights to others. Access can be provided to different classes of users:</a:t>
            </a:r>
          </a:p>
          <a:p>
            <a:r>
              <a:rPr lang="en-US" b="1" dirty="0"/>
              <a:t>Specific user: </a:t>
            </a:r>
            <a:r>
              <a:rPr lang="en-US" dirty="0"/>
              <a:t>Individual users who are designated by user ID.</a:t>
            </a:r>
          </a:p>
          <a:p>
            <a:r>
              <a:rPr lang="en-US" b="1" dirty="0"/>
              <a:t>User groups: </a:t>
            </a:r>
            <a:r>
              <a:rPr lang="en-US" dirty="0"/>
              <a:t>A set of users who are not individually defined. The system must have some way of keeping track of the membership of user groups.</a:t>
            </a:r>
          </a:p>
          <a:p>
            <a:r>
              <a:rPr lang="en-US" b="1" dirty="0"/>
              <a:t>All: </a:t>
            </a:r>
            <a:r>
              <a:rPr lang="en-US" dirty="0"/>
              <a:t>All users who have access to this system. These are public files.</a:t>
            </a:r>
          </a:p>
          <a:p>
            <a:endParaRPr lang="en-US" dirty="0"/>
          </a:p>
        </p:txBody>
      </p:sp>
    </p:spTree>
    <p:extLst>
      <p:ext uri="{BB962C8B-B14F-4D97-AF65-F5344CB8AC3E}">
        <p14:creationId xmlns:p14="http://schemas.microsoft.com/office/powerpoint/2010/main" val="31625851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2561"/>
            <a:ext cx="10515600" cy="1158240"/>
          </a:xfrm>
        </p:spPr>
        <p:txBody>
          <a:bodyPr>
            <a:normAutofit fontScale="90000"/>
          </a:bodyPr>
          <a:lstStyle/>
          <a:p>
            <a:pPr algn="ctr"/>
            <a:r>
              <a:rPr lang="en-US" b="1" dirty="0"/>
              <a:t>File Structure</a:t>
            </a:r>
            <a:br>
              <a:rPr lang="en-US" b="1" dirty="0"/>
            </a:br>
            <a:endParaRPr lang="en-US" dirty="0"/>
          </a:p>
        </p:txBody>
      </p:sp>
      <p:sp>
        <p:nvSpPr>
          <p:cNvPr id="3" name="Content Placeholder 2"/>
          <p:cNvSpPr>
            <a:spLocks noGrp="1"/>
          </p:cNvSpPr>
          <p:nvPr>
            <p:ph idx="1"/>
          </p:nvPr>
        </p:nvSpPr>
        <p:spPr>
          <a:xfrm>
            <a:off x="838200" y="731520"/>
            <a:ext cx="10515600" cy="5445443"/>
          </a:xfrm>
        </p:spPr>
        <p:txBody>
          <a:bodyPr/>
          <a:lstStyle/>
          <a:p>
            <a:endParaRPr lang="en-US" dirty="0"/>
          </a:p>
        </p:txBody>
      </p:sp>
      <p:pic>
        <p:nvPicPr>
          <p:cNvPr id="2050" name="Picture 2" descr="Graphics (p.3-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5200" y="731519"/>
            <a:ext cx="7172959" cy="5445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125522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35355"/>
          </a:xfrm>
        </p:spPr>
        <p:txBody>
          <a:bodyPr/>
          <a:lstStyle/>
          <a:p>
            <a:pPr algn="ctr"/>
            <a:r>
              <a:rPr lang="en-US" b="1" dirty="0"/>
              <a:t>File Structure</a:t>
            </a:r>
            <a:endParaRPr lang="en-US" dirty="0"/>
          </a:p>
        </p:txBody>
      </p:sp>
      <p:sp>
        <p:nvSpPr>
          <p:cNvPr id="3" name="Content Placeholder 2"/>
          <p:cNvSpPr>
            <a:spLocks noGrp="1"/>
          </p:cNvSpPr>
          <p:nvPr>
            <p:ph idx="1"/>
          </p:nvPr>
        </p:nvSpPr>
        <p:spPr>
          <a:xfrm>
            <a:off x="838200" y="1300480"/>
            <a:ext cx="10515600" cy="4876483"/>
          </a:xfrm>
        </p:spPr>
        <p:txBody>
          <a:bodyPr>
            <a:normAutofit lnSpcReduction="10000"/>
          </a:bodyPr>
          <a:lstStyle/>
          <a:p>
            <a:r>
              <a:rPr lang="en-US" dirty="0"/>
              <a:t>Disks are always divided up into tracks and sectors, as shown in the figure above</a:t>
            </a:r>
          </a:p>
          <a:p>
            <a:r>
              <a:rPr lang="en-US" dirty="0"/>
              <a:t>To access any particular block of data, the program first moves to the correct track, then has you wait while the spinning disk moves the correct sector under the head.</a:t>
            </a:r>
          </a:p>
          <a:p>
            <a:r>
              <a:rPr lang="en-US" dirty="0"/>
              <a:t>A somewhat more abstract view of disks was taken in developing MS-DOS. MS-DOS views the disk, not in terms of tracks and sectors, but as a continuous array of </a:t>
            </a:r>
            <a:r>
              <a:rPr lang="en-US" i="1" dirty="0"/>
              <a:t>n </a:t>
            </a:r>
            <a:r>
              <a:rPr lang="en-US" dirty="0"/>
              <a:t>logical sectors, numbered from 0 to </a:t>
            </a:r>
            <a:r>
              <a:rPr lang="en-US" i="1" dirty="0"/>
              <a:t>n </a:t>
            </a:r>
            <a:r>
              <a:rPr lang="en-US" dirty="0"/>
              <a:t>- 1</a:t>
            </a:r>
            <a:r>
              <a:rPr lang="en-US" i="1" dirty="0"/>
              <a:t>.</a:t>
            </a:r>
          </a:p>
          <a:p>
            <a:r>
              <a:rPr lang="en-US" dirty="0"/>
              <a:t>The figure shows the usual method of numbering the logical sectors. Logical sector 0 is the first sector of the outermost track; the rest of the track (and the next, etc.) is numbered sequentially. Logical sector </a:t>
            </a:r>
            <a:r>
              <a:rPr lang="en-US" i="1" dirty="0"/>
              <a:t>n </a:t>
            </a:r>
            <a:r>
              <a:rPr lang="en-US" dirty="0"/>
              <a:t>- 1 is the last sector on the innermost track.</a:t>
            </a:r>
          </a:p>
          <a:p>
            <a:endParaRPr lang="en-US" dirty="0"/>
          </a:p>
        </p:txBody>
      </p:sp>
    </p:spTree>
    <p:extLst>
      <p:ext uri="{BB962C8B-B14F-4D97-AF65-F5344CB8AC3E}">
        <p14:creationId xmlns:p14="http://schemas.microsoft.com/office/powerpoint/2010/main" val="10272047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036321"/>
          </a:xfrm>
        </p:spPr>
        <p:txBody>
          <a:bodyPr>
            <a:normAutofit fontScale="90000"/>
          </a:bodyPr>
          <a:lstStyle/>
          <a:p>
            <a:pPr algn="ctr"/>
            <a:r>
              <a:rPr lang="en-US" b="1" dirty="0"/>
              <a:t>WINDOWS FILE SYSTEMS</a:t>
            </a:r>
            <a:r>
              <a:rPr lang="en-US" u="sng" dirty="0"/>
              <a:t/>
            </a:r>
            <a:br>
              <a:rPr lang="en-US" u="sng" dirty="0"/>
            </a:br>
            <a:endParaRPr lang="en-US" u="sng" dirty="0"/>
          </a:p>
        </p:txBody>
      </p:sp>
      <p:sp>
        <p:nvSpPr>
          <p:cNvPr id="3" name="Content Placeholder 2"/>
          <p:cNvSpPr>
            <a:spLocks noGrp="1"/>
          </p:cNvSpPr>
          <p:nvPr>
            <p:ph idx="1"/>
          </p:nvPr>
        </p:nvSpPr>
        <p:spPr>
          <a:xfrm>
            <a:off x="838200" y="690880"/>
            <a:ext cx="10515600" cy="6167120"/>
          </a:xfrm>
        </p:spPr>
        <p:txBody>
          <a:bodyPr>
            <a:normAutofit fontScale="92500" lnSpcReduction="10000"/>
          </a:bodyPr>
          <a:lstStyle/>
          <a:p>
            <a:pPr marL="0" indent="0">
              <a:buNone/>
            </a:pPr>
            <a:r>
              <a:rPr lang="en-US" dirty="0"/>
              <a:t>The Windows operating system supports the following file systems.</a:t>
            </a:r>
          </a:p>
          <a:p>
            <a:pPr marL="0" indent="0">
              <a:buNone/>
            </a:pPr>
            <a:r>
              <a:rPr lang="en-US" b="1" dirty="0"/>
              <a:t>FAT- File Allocation Table </a:t>
            </a:r>
          </a:p>
          <a:p>
            <a:r>
              <a:rPr lang="en-US" dirty="0"/>
              <a:t>The MS-DOS operating system introduced the File Allocation Table system of keeping track of file entries and free clusters.</a:t>
            </a:r>
          </a:p>
          <a:p>
            <a:r>
              <a:rPr lang="en-US" dirty="0"/>
              <a:t> Filenames where restricted to eight characters with an addition three characters signifying the file type.</a:t>
            </a:r>
          </a:p>
          <a:p>
            <a:pPr marL="0" indent="0">
              <a:buNone/>
            </a:pPr>
            <a:r>
              <a:rPr lang="en-US" b="1" dirty="0"/>
              <a:t>FAT32</a:t>
            </a:r>
            <a:r>
              <a:rPr lang="en-US" dirty="0"/>
              <a:t> </a:t>
            </a:r>
          </a:p>
          <a:p>
            <a:r>
              <a:rPr lang="en-US" dirty="0"/>
              <a:t>An updated version of the FAT system designed for Windows 98. </a:t>
            </a:r>
          </a:p>
          <a:p>
            <a:r>
              <a:rPr lang="en-US" dirty="0"/>
              <a:t>It supports file compression and long filenames.</a:t>
            </a:r>
          </a:p>
          <a:p>
            <a:pPr marL="0" indent="0">
              <a:buNone/>
            </a:pPr>
            <a:r>
              <a:rPr lang="en-US" b="1" dirty="0"/>
              <a:t>NTFS- New Technology File System</a:t>
            </a:r>
          </a:p>
          <a:p>
            <a:pPr marL="0" indent="0">
              <a:buNone/>
            </a:pPr>
            <a:r>
              <a:rPr lang="en-US" dirty="0"/>
              <a:t>Windows NT introduced the NT File System, designed to be more efficient at handling files than the FAT system. </a:t>
            </a:r>
          </a:p>
          <a:p>
            <a:pPr marL="0" indent="0">
              <a:buNone/>
            </a:pPr>
            <a:r>
              <a:rPr lang="en-US" dirty="0"/>
              <a:t>It spreads file tables throughout the disk, beginning at the center of the storage space. </a:t>
            </a:r>
          </a:p>
          <a:p>
            <a:pPr marL="0" indent="0">
              <a:buNone/>
            </a:pPr>
            <a:r>
              <a:rPr lang="en-US" dirty="0"/>
              <a:t>It supports file compression and long filenames.</a:t>
            </a:r>
          </a:p>
          <a:p>
            <a:pPr marL="0" indent="0">
              <a:buNone/>
            </a:pPr>
            <a:endParaRPr lang="en-US" dirty="0"/>
          </a:p>
        </p:txBody>
      </p:sp>
    </p:spTree>
    <p:extLst>
      <p:ext uri="{BB962C8B-B14F-4D97-AF65-F5344CB8AC3E}">
        <p14:creationId xmlns:p14="http://schemas.microsoft.com/office/powerpoint/2010/main" val="16692304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076961"/>
          </a:xfrm>
        </p:spPr>
        <p:txBody>
          <a:bodyPr>
            <a:normAutofit fontScale="90000"/>
          </a:bodyPr>
          <a:lstStyle/>
          <a:p>
            <a:pPr algn="ctr"/>
            <a:r>
              <a:rPr lang="en-US" b="1" dirty="0"/>
              <a:t>FEATURES OF NTFS</a:t>
            </a:r>
            <a:r>
              <a:rPr lang="en-US" dirty="0"/>
              <a:t/>
            </a:r>
            <a:br>
              <a:rPr lang="en-US" dirty="0"/>
            </a:br>
            <a:endParaRPr lang="en-US" dirty="0"/>
          </a:p>
        </p:txBody>
      </p:sp>
      <p:sp>
        <p:nvSpPr>
          <p:cNvPr id="3" name="Content Placeholder 2"/>
          <p:cNvSpPr>
            <a:spLocks noGrp="1"/>
          </p:cNvSpPr>
          <p:nvPr>
            <p:ph idx="1"/>
          </p:nvPr>
        </p:nvSpPr>
        <p:spPr>
          <a:xfrm>
            <a:off x="838200" y="528320"/>
            <a:ext cx="10515600" cy="6329680"/>
          </a:xfrm>
        </p:spPr>
        <p:txBody>
          <a:bodyPr>
            <a:normAutofit lnSpcReduction="10000"/>
          </a:bodyPr>
          <a:lstStyle/>
          <a:p>
            <a:r>
              <a:rPr lang="en-US" dirty="0"/>
              <a:t>Recoverability</a:t>
            </a:r>
            <a:r>
              <a:rPr lang="en-US" b="1" u="sng" dirty="0"/>
              <a:t>- </a:t>
            </a:r>
            <a:r>
              <a:rPr lang="en-US" dirty="0"/>
              <a:t>NTFS has high reliability and is able to reconstruct disk volumes and return them to a consistent state.</a:t>
            </a:r>
            <a:r>
              <a:rPr lang="en-US" b="1" u="sng" dirty="0"/>
              <a:t> </a:t>
            </a:r>
            <a:r>
              <a:rPr lang="en-US" dirty="0"/>
              <a:t>NTFS uses transaction </a:t>
            </a:r>
            <a:r>
              <a:rPr lang="en-US" sz="3500" dirty="0"/>
              <a:t>logging</a:t>
            </a:r>
            <a:r>
              <a:rPr lang="en-US" dirty="0"/>
              <a:t> to log all folders and file updates automatically.</a:t>
            </a:r>
          </a:p>
          <a:p>
            <a:r>
              <a:rPr lang="en-US" dirty="0"/>
              <a:t>Security- NTFS uses the windows object model to enforce security. An open file is implemented as a file object with a security descriptor that defines its attributes. The attribute contains the access token of the owner of the file, and an access control list that states the access privileges that are granted to each user that has access to the </a:t>
            </a:r>
            <a:r>
              <a:rPr lang="en-US" dirty="0" err="1"/>
              <a:t>fiile</a:t>
            </a:r>
            <a:r>
              <a:rPr lang="en-US" dirty="0"/>
              <a:t>.</a:t>
            </a:r>
          </a:p>
          <a:p>
            <a:pPr lvl="0"/>
            <a:r>
              <a:rPr lang="en-US" dirty="0"/>
              <a:t>Support for large disks and large files- NTFS supports very large disks and very large files more efficiently than other file systems including FAT.</a:t>
            </a:r>
          </a:p>
          <a:p>
            <a:pPr lvl="0"/>
            <a:r>
              <a:rPr lang="en-US" dirty="0"/>
              <a:t> Support for cluster remapping- If a failure occurs because of a faulty sector on the hard disk, NTFS allocates a new cluster to replace the cluster with the faulty sector. NTFS then stores the address of the cluster containing the faulty sector so that the faulty sector is not reused.</a:t>
            </a:r>
          </a:p>
          <a:p>
            <a:endParaRPr lang="en-US" dirty="0"/>
          </a:p>
          <a:p>
            <a:endParaRPr lang="en-US" dirty="0"/>
          </a:p>
        </p:txBody>
      </p:sp>
    </p:spTree>
    <p:extLst>
      <p:ext uri="{BB962C8B-B14F-4D97-AF65-F5344CB8AC3E}">
        <p14:creationId xmlns:p14="http://schemas.microsoft.com/office/powerpoint/2010/main" val="22344342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198880"/>
          </a:xfrm>
        </p:spPr>
        <p:txBody>
          <a:bodyPr>
            <a:normAutofit fontScale="90000"/>
          </a:bodyPr>
          <a:lstStyle/>
          <a:p>
            <a:pPr algn="ctr"/>
            <a:r>
              <a:rPr lang="en-US" b="1" dirty="0"/>
              <a:t>FEATURES OF NTFS</a:t>
            </a:r>
            <a:r>
              <a:rPr lang="en-US" dirty="0"/>
              <a:t/>
            </a:r>
            <a:br>
              <a:rPr lang="en-US" dirty="0"/>
            </a:br>
            <a:endParaRPr lang="en-US" dirty="0"/>
          </a:p>
        </p:txBody>
      </p:sp>
      <p:sp>
        <p:nvSpPr>
          <p:cNvPr id="3" name="Content Placeholder 2"/>
          <p:cNvSpPr>
            <a:spLocks noGrp="1"/>
          </p:cNvSpPr>
          <p:nvPr>
            <p:ph idx="1"/>
          </p:nvPr>
        </p:nvSpPr>
        <p:spPr>
          <a:xfrm>
            <a:off x="838200" y="1016000"/>
            <a:ext cx="10515600" cy="5486400"/>
          </a:xfrm>
        </p:spPr>
        <p:txBody>
          <a:bodyPr>
            <a:normAutofit/>
          </a:bodyPr>
          <a:lstStyle/>
          <a:p>
            <a:pPr lvl="0"/>
            <a:r>
              <a:rPr lang="en-US" sz="3200" dirty="0"/>
              <a:t>General indexing facility- NTFS associates a collection of attributes with each file. The set of file descriptions in the file management system is organized as a relational database, so that files can be indexed by any attribute.</a:t>
            </a:r>
          </a:p>
          <a:p>
            <a:pPr lvl="0"/>
            <a:r>
              <a:rPr lang="en-US" sz="3200" dirty="0"/>
              <a:t>Reduces file fragmentation- NTFS reduces file fragmentation by attempting to write files contiguously on the partition. A file can become fragmented as it grows in size, depending on the disk’s space usage.</a:t>
            </a:r>
          </a:p>
          <a:p>
            <a:pPr lvl="0"/>
            <a:r>
              <a:rPr lang="en-US" sz="3200" dirty="0"/>
              <a:t>Supports Disk quotas- An administrator is able to assign portions of disk space to a variety of users based on their demands</a:t>
            </a:r>
          </a:p>
          <a:p>
            <a:endParaRPr lang="en-US" sz="3200" dirty="0"/>
          </a:p>
        </p:txBody>
      </p:sp>
    </p:spTree>
    <p:extLst>
      <p:ext uri="{BB962C8B-B14F-4D97-AF65-F5344CB8AC3E}">
        <p14:creationId xmlns:p14="http://schemas.microsoft.com/office/powerpoint/2010/main" val="38276875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881"/>
            <a:ext cx="10515600" cy="914400"/>
          </a:xfrm>
        </p:spPr>
        <p:txBody>
          <a:bodyPr>
            <a:normAutofit fontScale="90000"/>
          </a:bodyPr>
          <a:lstStyle/>
          <a:p>
            <a:pPr algn="ctr"/>
            <a:r>
              <a:rPr lang="en-US" b="1" dirty="0"/>
              <a:t>Windows 7 installation</a:t>
            </a:r>
            <a:r>
              <a:rPr lang="en-US" dirty="0"/>
              <a:t/>
            </a:r>
            <a:br>
              <a:rPr lang="en-US" dirty="0"/>
            </a:br>
            <a:endParaRPr lang="en-US" dirty="0"/>
          </a:p>
        </p:txBody>
      </p:sp>
      <p:sp>
        <p:nvSpPr>
          <p:cNvPr id="3" name="Content Placeholder 2"/>
          <p:cNvSpPr>
            <a:spLocks noGrp="1"/>
          </p:cNvSpPr>
          <p:nvPr>
            <p:ph idx="1"/>
          </p:nvPr>
        </p:nvSpPr>
        <p:spPr>
          <a:xfrm>
            <a:off x="838200" y="1097282"/>
            <a:ext cx="10515600" cy="5079682"/>
          </a:xfrm>
        </p:spPr>
        <p:txBody>
          <a:bodyPr/>
          <a:lstStyle/>
          <a:p>
            <a:pPr marL="0" indent="0">
              <a:buNone/>
            </a:pPr>
            <a:r>
              <a:rPr lang="en-US" dirty="0"/>
              <a:t>Check the following minimum requirements:</a:t>
            </a:r>
          </a:p>
          <a:p>
            <a:r>
              <a:rPr lang="en-US" dirty="0"/>
              <a:t>Hard disk capacity </a:t>
            </a:r>
          </a:p>
          <a:p>
            <a:r>
              <a:rPr lang="en-US" dirty="0"/>
              <a:t>RAM capacity </a:t>
            </a:r>
          </a:p>
          <a:p>
            <a:r>
              <a:rPr lang="en-US" dirty="0"/>
              <a:t>Processor speed </a:t>
            </a:r>
          </a:p>
          <a:p>
            <a:r>
              <a:rPr lang="en-US" dirty="0"/>
              <a:t>CD drive (if booting from cd) </a:t>
            </a:r>
          </a:p>
          <a:p>
            <a:r>
              <a:rPr lang="en-US" dirty="0"/>
              <a:t>I/O devices (mouse and keyboard)</a:t>
            </a:r>
          </a:p>
          <a:p>
            <a:r>
              <a:rPr lang="en-US" dirty="0"/>
              <a:t>Screen resolution.</a:t>
            </a:r>
          </a:p>
          <a:p>
            <a:pPr marL="0" indent="0">
              <a:buNone/>
            </a:pPr>
            <a:r>
              <a:rPr lang="en-US" dirty="0"/>
              <a:t>State the minimum requirement specifications for windows 7 and windows XP OS installation.</a:t>
            </a:r>
          </a:p>
          <a:p>
            <a:endParaRPr lang="en-US" dirty="0"/>
          </a:p>
        </p:txBody>
      </p:sp>
    </p:spTree>
    <p:extLst>
      <p:ext uri="{BB962C8B-B14F-4D97-AF65-F5344CB8AC3E}">
        <p14:creationId xmlns:p14="http://schemas.microsoft.com/office/powerpoint/2010/main" val="40457803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3201"/>
            <a:ext cx="10515600" cy="1137920"/>
          </a:xfrm>
        </p:spPr>
        <p:txBody>
          <a:bodyPr>
            <a:normAutofit fontScale="90000"/>
          </a:bodyPr>
          <a:lstStyle/>
          <a:p>
            <a:pPr algn="ctr"/>
            <a:r>
              <a:rPr lang="en-US" b="1" dirty="0"/>
              <a:t>Windows 7 installation</a:t>
            </a:r>
            <a:r>
              <a:rPr lang="en-US" dirty="0"/>
              <a:t/>
            </a:r>
            <a:br>
              <a:rPr lang="en-US" dirty="0"/>
            </a:br>
            <a:endParaRPr lang="en-US" dirty="0"/>
          </a:p>
        </p:txBody>
      </p:sp>
      <p:sp>
        <p:nvSpPr>
          <p:cNvPr id="3" name="Content Placeholder 2"/>
          <p:cNvSpPr>
            <a:spLocks noGrp="1"/>
          </p:cNvSpPr>
          <p:nvPr>
            <p:ph idx="1"/>
          </p:nvPr>
        </p:nvSpPr>
        <p:spPr>
          <a:xfrm>
            <a:off x="838200" y="955040"/>
            <a:ext cx="10515600" cy="5709920"/>
          </a:xfrm>
        </p:spPr>
        <p:txBody>
          <a:bodyPr/>
          <a:lstStyle/>
          <a:p>
            <a:pPr marL="0" indent="0">
              <a:buNone/>
            </a:pPr>
            <a:r>
              <a:rPr lang="en-US" b="1" dirty="0"/>
              <a:t>Plan the installation</a:t>
            </a:r>
            <a:endParaRPr lang="en-US" dirty="0"/>
          </a:p>
          <a:p>
            <a:pPr lvl="0"/>
            <a:r>
              <a:rPr lang="en-US" dirty="0"/>
              <a:t>Installation options</a:t>
            </a:r>
          </a:p>
          <a:p>
            <a:pPr marL="0" lvl="0" indent="0">
              <a:buNone/>
            </a:pPr>
            <a:r>
              <a:rPr lang="en-US" dirty="0"/>
              <a:t>-Clean install (fresh copy)</a:t>
            </a:r>
          </a:p>
          <a:p>
            <a:pPr marL="0" lvl="0" indent="0">
              <a:buNone/>
            </a:pPr>
            <a:r>
              <a:rPr lang="en-US" dirty="0"/>
              <a:t>-Upgrade (Picks previous installed software</a:t>
            </a:r>
          </a:p>
          <a:p>
            <a:pPr lvl="0"/>
            <a:r>
              <a:rPr lang="en-US" dirty="0"/>
              <a:t>Partitioning of drive and </a:t>
            </a:r>
            <a:r>
              <a:rPr lang="en-US" dirty="0" err="1"/>
              <a:t>filesystem</a:t>
            </a:r>
            <a:r>
              <a:rPr lang="en-US" dirty="0"/>
              <a:t> (NTFS for Windows 7)</a:t>
            </a:r>
          </a:p>
          <a:p>
            <a:pPr lvl="0"/>
            <a:r>
              <a:rPr lang="en-US" dirty="0"/>
              <a:t>Networking options- Domain or workgroup</a:t>
            </a:r>
          </a:p>
          <a:p>
            <a:pPr lvl="0"/>
            <a:r>
              <a:rPr lang="en-US" dirty="0"/>
              <a:t>Installation media- CD or network</a:t>
            </a:r>
          </a:p>
          <a:p>
            <a:pPr lvl="0"/>
            <a:r>
              <a:rPr lang="en-US" dirty="0"/>
              <a:t>Boot order-order of drives to choose boot media</a:t>
            </a:r>
          </a:p>
          <a:p>
            <a:pPr lvl="0"/>
            <a:r>
              <a:rPr lang="en-US" dirty="0"/>
              <a:t>Ensure you have backed up important files</a:t>
            </a:r>
          </a:p>
          <a:p>
            <a:pPr lvl="0"/>
            <a:endParaRPr lang="en-US" dirty="0"/>
          </a:p>
          <a:p>
            <a:endParaRPr lang="en-US" dirty="0"/>
          </a:p>
        </p:txBody>
      </p:sp>
    </p:spTree>
    <p:extLst>
      <p:ext uri="{BB962C8B-B14F-4D97-AF65-F5344CB8AC3E}">
        <p14:creationId xmlns:p14="http://schemas.microsoft.com/office/powerpoint/2010/main" val="14714643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056641"/>
          </a:xfrm>
        </p:spPr>
        <p:txBody>
          <a:bodyPr>
            <a:normAutofit fontScale="90000"/>
          </a:bodyPr>
          <a:lstStyle/>
          <a:p>
            <a:pPr algn="ctr"/>
            <a:r>
              <a:rPr lang="en-US" b="1" dirty="0"/>
              <a:t>Windows 7 installation</a:t>
            </a:r>
            <a:r>
              <a:rPr lang="en-US" dirty="0"/>
              <a:t/>
            </a:r>
            <a:br>
              <a:rPr lang="en-US" dirty="0"/>
            </a:br>
            <a:endParaRPr lang="en-US" dirty="0"/>
          </a:p>
        </p:txBody>
      </p:sp>
      <p:sp>
        <p:nvSpPr>
          <p:cNvPr id="3" name="Content Placeholder 2"/>
          <p:cNvSpPr>
            <a:spLocks noGrp="1"/>
          </p:cNvSpPr>
          <p:nvPr>
            <p:ph idx="1"/>
          </p:nvPr>
        </p:nvSpPr>
        <p:spPr>
          <a:xfrm>
            <a:off x="838200" y="731520"/>
            <a:ext cx="10515600" cy="6126480"/>
          </a:xfrm>
        </p:spPr>
        <p:txBody>
          <a:bodyPr/>
          <a:lstStyle/>
          <a:p>
            <a:pPr marL="0" indent="0">
              <a:buNone/>
            </a:pPr>
            <a:r>
              <a:rPr lang="en-US" b="1" dirty="0"/>
              <a:t>Procedures for optimizing Windows 7 environment</a:t>
            </a:r>
          </a:p>
          <a:p>
            <a:pPr lvl="1"/>
            <a:r>
              <a:rPr lang="en-US" sz="2650" dirty="0"/>
              <a:t>Put in place to back up windows system files after you have made changes</a:t>
            </a:r>
          </a:p>
          <a:p>
            <a:pPr lvl="1"/>
            <a:r>
              <a:rPr lang="en-US" sz="2650" dirty="0"/>
              <a:t>Set W7 so that it automatically downloads updates</a:t>
            </a:r>
          </a:p>
          <a:p>
            <a:pPr lvl="1"/>
            <a:r>
              <a:rPr lang="en-US" sz="2650" dirty="0"/>
              <a:t>Use firewalls and anti-virus software to protect the system from attacks</a:t>
            </a:r>
          </a:p>
          <a:p>
            <a:pPr lvl="1"/>
            <a:r>
              <a:rPr lang="en-US" sz="2650" dirty="0"/>
              <a:t>Create user accounts so that users can do their jobs and perform routine maintenance, but cannot make major changes to the system that have not been authorized</a:t>
            </a:r>
          </a:p>
          <a:p>
            <a:pPr lvl="1"/>
            <a:r>
              <a:rPr lang="en-US" sz="2650" dirty="0"/>
              <a:t>Put procedures in place to keep current backups of user data</a:t>
            </a:r>
          </a:p>
          <a:p>
            <a:pPr lvl="1"/>
            <a:r>
              <a:rPr lang="en-US" sz="2650" dirty="0"/>
              <a:t>Teach users how to routinely clean up hard drive and how to verify that their data backups are current and data recovery routines work</a:t>
            </a:r>
          </a:p>
          <a:p>
            <a:pPr lvl="1"/>
            <a:r>
              <a:rPr lang="en-US" sz="2650" dirty="0"/>
              <a:t>Check that unneeded software and services are not clogging up the system and that memory settings are optimized </a:t>
            </a:r>
            <a:r>
              <a:rPr lang="en-US" sz="2650" b="1" dirty="0"/>
              <a:t>	</a:t>
            </a:r>
            <a:r>
              <a:rPr lang="en-US" sz="2600" b="1" dirty="0"/>
              <a:t>	</a:t>
            </a:r>
            <a:endParaRPr lang="en-US" sz="2600" dirty="0"/>
          </a:p>
        </p:txBody>
      </p:sp>
    </p:spTree>
    <p:extLst>
      <p:ext uri="{BB962C8B-B14F-4D97-AF65-F5344CB8AC3E}">
        <p14:creationId xmlns:p14="http://schemas.microsoft.com/office/powerpoint/2010/main" val="27147407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2241"/>
            <a:ext cx="10515600" cy="873759"/>
          </a:xfrm>
        </p:spPr>
        <p:txBody>
          <a:bodyPr>
            <a:normAutofit fontScale="90000"/>
          </a:bodyPr>
          <a:lstStyle/>
          <a:p>
            <a:pPr algn="ctr"/>
            <a:r>
              <a:rPr lang="en-US" b="1" dirty="0"/>
              <a:t>BOOT-UP  PROCESS</a:t>
            </a:r>
            <a:r>
              <a:rPr lang="en-US" dirty="0"/>
              <a:t/>
            </a:r>
            <a:br>
              <a:rPr lang="en-US" dirty="0"/>
            </a:br>
            <a:endParaRPr lang="en-US" dirty="0"/>
          </a:p>
        </p:txBody>
      </p:sp>
      <p:sp>
        <p:nvSpPr>
          <p:cNvPr id="3" name="Content Placeholder 2"/>
          <p:cNvSpPr>
            <a:spLocks noGrp="1"/>
          </p:cNvSpPr>
          <p:nvPr>
            <p:ph idx="1"/>
          </p:nvPr>
        </p:nvSpPr>
        <p:spPr>
          <a:xfrm>
            <a:off x="838200" y="1239520"/>
            <a:ext cx="10515600" cy="5019040"/>
          </a:xfrm>
        </p:spPr>
        <p:txBody>
          <a:bodyPr/>
          <a:lstStyle/>
          <a:p>
            <a:endParaRPr lang="en-US" dirty="0"/>
          </a:p>
          <a:p>
            <a:r>
              <a:rPr lang="en-US" dirty="0"/>
              <a:t>Boot-up process or Booting process is the process of switching on the computer and loading the operating system</a:t>
            </a:r>
          </a:p>
          <a:p>
            <a:r>
              <a:rPr lang="en-US" dirty="0"/>
              <a:t>Cold boot- initial boot-up from a cold state</a:t>
            </a:r>
          </a:p>
          <a:p>
            <a:r>
              <a:rPr lang="en-US" dirty="0"/>
              <a:t>Warm boot- System restart from a hot state</a:t>
            </a:r>
          </a:p>
          <a:p>
            <a:endParaRPr lang="en-US" dirty="0"/>
          </a:p>
        </p:txBody>
      </p:sp>
    </p:spTree>
    <p:extLst>
      <p:ext uri="{BB962C8B-B14F-4D97-AF65-F5344CB8AC3E}">
        <p14:creationId xmlns:p14="http://schemas.microsoft.com/office/powerpoint/2010/main" val="24501072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1515"/>
          </a:xfrm>
        </p:spPr>
        <p:txBody>
          <a:bodyPr>
            <a:normAutofit fontScale="90000"/>
          </a:bodyPr>
          <a:lstStyle/>
          <a:p>
            <a:pPr algn="ctr"/>
            <a:r>
              <a:rPr lang="en-US" b="1" dirty="0"/>
              <a:t>BOO-UP  PROCESS</a:t>
            </a:r>
            <a:endParaRPr lang="en-US" dirty="0"/>
          </a:p>
        </p:txBody>
      </p:sp>
      <p:sp>
        <p:nvSpPr>
          <p:cNvPr id="3" name="Content Placeholder 2"/>
          <p:cNvSpPr>
            <a:spLocks noGrp="1"/>
          </p:cNvSpPr>
          <p:nvPr>
            <p:ph idx="1"/>
          </p:nvPr>
        </p:nvSpPr>
        <p:spPr>
          <a:xfrm>
            <a:off x="838200" y="1259840"/>
            <a:ext cx="10515600" cy="4917123"/>
          </a:xfrm>
        </p:spPr>
        <p:txBody>
          <a:bodyPr/>
          <a:lstStyle/>
          <a:p>
            <a:pPr marL="0" indent="0">
              <a:buNone/>
            </a:pPr>
            <a:r>
              <a:rPr lang="en-US" b="1" dirty="0"/>
              <a:t>Booting process of Windows 7	</a:t>
            </a:r>
          </a:p>
          <a:p>
            <a:r>
              <a:rPr lang="en-US" dirty="0"/>
              <a:t>When the computer's power is first turned on, the CPU initializes itself, which is triggered by a series of clock ticks generated by the system clock. </a:t>
            </a:r>
          </a:p>
          <a:p>
            <a:r>
              <a:rPr lang="en-US" dirty="0"/>
              <a:t>It looks to the system's </a:t>
            </a:r>
            <a:r>
              <a:rPr lang="en-US" b="1" dirty="0"/>
              <a:t>ROM BIOS</a:t>
            </a:r>
            <a:r>
              <a:rPr lang="en-US" dirty="0"/>
              <a:t> for its first instruction in the startup program. </a:t>
            </a:r>
          </a:p>
          <a:p>
            <a:r>
              <a:rPr lang="en-US" dirty="0"/>
              <a:t>The</a:t>
            </a:r>
            <a:r>
              <a:rPr lang="en-US" b="1" dirty="0"/>
              <a:t> ROM BIOS </a:t>
            </a:r>
            <a:r>
              <a:rPr lang="en-US" dirty="0"/>
              <a:t>stores the first instruction, which is the instruction to run the power-on self test (POST), in a predetermined memory address. </a:t>
            </a:r>
          </a:p>
          <a:p>
            <a:r>
              <a:rPr lang="en-US" dirty="0"/>
              <a:t>POST checks the inventoried hardware to ensure they are functioning properly.</a:t>
            </a:r>
          </a:p>
          <a:p>
            <a:pPr marL="0" indent="0">
              <a:buNone/>
            </a:pPr>
            <a:endParaRPr lang="en-US" dirty="0"/>
          </a:p>
        </p:txBody>
      </p:sp>
    </p:spTree>
    <p:extLst>
      <p:ext uri="{BB962C8B-B14F-4D97-AF65-F5344CB8AC3E}">
        <p14:creationId xmlns:p14="http://schemas.microsoft.com/office/powerpoint/2010/main" val="12356678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2795"/>
          </a:xfrm>
        </p:spPr>
        <p:txBody>
          <a:bodyPr/>
          <a:lstStyle/>
          <a:p>
            <a:pPr algn="ctr"/>
            <a:r>
              <a:rPr lang="en-US" b="1" dirty="0"/>
              <a:t>BOO-UP  PROCESS</a:t>
            </a:r>
            <a:endParaRPr lang="en-US" dirty="0"/>
          </a:p>
        </p:txBody>
      </p:sp>
      <p:sp>
        <p:nvSpPr>
          <p:cNvPr id="3" name="Content Placeholder 2"/>
          <p:cNvSpPr>
            <a:spLocks noGrp="1"/>
          </p:cNvSpPr>
          <p:nvPr>
            <p:ph idx="1"/>
          </p:nvPr>
        </p:nvSpPr>
        <p:spPr>
          <a:xfrm>
            <a:off x="838200" y="1137920"/>
            <a:ext cx="10515600" cy="5039043"/>
          </a:xfrm>
        </p:spPr>
        <p:txBody>
          <a:bodyPr>
            <a:normAutofit lnSpcReduction="10000"/>
          </a:bodyPr>
          <a:lstStyle/>
          <a:p>
            <a:r>
              <a:rPr lang="en-US" dirty="0"/>
              <a:t>Once the POST has determined that all components are functioning properly and the CPU has successfully initialized the BIOS looks for an OS to load.</a:t>
            </a:r>
          </a:p>
          <a:p>
            <a:r>
              <a:rPr lang="en-US" dirty="0"/>
              <a:t>The BIOS typically looks to the CMOS chip to tell it where to find the OS, and in most PCs, the OS loads from the C drive on the hard drive. The order of drives that the CMOS looks to in order to locate the OS is called the boot sequence. </a:t>
            </a:r>
          </a:p>
          <a:p>
            <a:r>
              <a:rPr lang="en-US" dirty="0"/>
              <a:t>The BIOS will first encounter the boot record, which tells it where to find the beginning of the OS and the subsequent program file that will initialize the OS.</a:t>
            </a:r>
          </a:p>
          <a:p>
            <a:r>
              <a:rPr lang="en-US" dirty="0"/>
              <a:t>Once the OS initializes, the BIOS copies its files into memory and the OS basically takes over control of the boot process. </a:t>
            </a:r>
          </a:p>
          <a:p>
            <a:endParaRPr lang="en-US" dirty="0"/>
          </a:p>
          <a:p>
            <a:endParaRPr lang="en-US" dirty="0"/>
          </a:p>
          <a:p>
            <a:endParaRPr lang="en-US" dirty="0"/>
          </a:p>
        </p:txBody>
      </p:sp>
    </p:spTree>
    <p:extLst>
      <p:ext uri="{BB962C8B-B14F-4D97-AF65-F5344CB8AC3E}">
        <p14:creationId xmlns:p14="http://schemas.microsoft.com/office/powerpoint/2010/main" val="40844285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35355"/>
          </a:xfrm>
        </p:spPr>
        <p:txBody>
          <a:bodyPr/>
          <a:lstStyle/>
          <a:p>
            <a:pPr algn="ctr"/>
            <a:r>
              <a:rPr lang="en-US" b="1"/>
              <a:t>BOOT-UP  </a:t>
            </a:r>
            <a:r>
              <a:rPr lang="en-US" b="1" dirty="0"/>
              <a:t>PROCESS</a:t>
            </a:r>
            <a:endParaRPr lang="en-US" dirty="0"/>
          </a:p>
        </p:txBody>
      </p:sp>
      <p:sp>
        <p:nvSpPr>
          <p:cNvPr id="3" name="Content Placeholder 2"/>
          <p:cNvSpPr>
            <a:spLocks noGrp="1"/>
          </p:cNvSpPr>
          <p:nvPr>
            <p:ph idx="1"/>
          </p:nvPr>
        </p:nvSpPr>
        <p:spPr/>
        <p:txBody>
          <a:bodyPr/>
          <a:lstStyle/>
          <a:p>
            <a:pPr marL="0" indent="0">
              <a:buNone/>
            </a:pPr>
            <a:r>
              <a:rPr lang="en-US" b="1" dirty="0"/>
              <a:t>Cont’d booting process</a:t>
            </a:r>
          </a:p>
          <a:p>
            <a:r>
              <a:rPr lang="en-US" dirty="0"/>
              <a:t>Now in control, the OS performs another inventory of the system's memory and memory availability and loads the device drivers that it needs to control the peripheral devices</a:t>
            </a:r>
          </a:p>
          <a:p>
            <a:r>
              <a:rPr lang="en-US" dirty="0"/>
              <a:t>The user is the presented with the log </a:t>
            </a:r>
            <a:r>
              <a:rPr lang="en-US"/>
              <a:t>on screen, after </a:t>
            </a:r>
            <a:r>
              <a:rPr lang="en-US" dirty="0"/>
              <a:t>which the user can access the system’s applications to perform tasks.</a:t>
            </a:r>
          </a:p>
          <a:p>
            <a:endParaRPr lang="en-US" dirty="0"/>
          </a:p>
        </p:txBody>
      </p:sp>
    </p:spTree>
    <p:extLst>
      <p:ext uri="{BB962C8B-B14F-4D97-AF65-F5344CB8AC3E}">
        <p14:creationId xmlns:p14="http://schemas.microsoft.com/office/powerpoint/2010/main" val="22512892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TotalTime>
  <Words>3095</Words>
  <Application>Microsoft Office PowerPoint</Application>
  <PresentationFormat>Widescreen</PresentationFormat>
  <Paragraphs>194</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Calibri Light</vt:lpstr>
      <vt:lpstr>Office Theme</vt:lpstr>
      <vt:lpstr>FILE MANAGEMENT</vt:lpstr>
      <vt:lpstr>FILES AND FILESYSTEMS</vt:lpstr>
      <vt:lpstr>FILES AND FILESYSTEMS</vt:lpstr>
      <vt:lpstr>FILES AND FILESYSTEMS</vt:lpstr>
      <vt:lpstr>FILES AND FILESYSTEMS</vt:lpstr>
      <vt:lpstr>FILES AND FILESYSTEMS</vt:lpstr>
      <vt:lpstr>FILES AND FILESYSTEMS</vt:lpstr>
      <vt:lpstr>FILES AND FILESYSTEMS</vt:lpstr>
      <vt:lpstr>FILES AND FILESYSTEMS</vt:lpstr>
      <vt:lpstr>FILES AND FILESYSTEMS</vt:lpstr>
      <vt:lpstr>FILES AND FILESYSTEMS</vt:lpstr>
      <vt:lpstr>FILES AND FILESYSTEMS</vt:lpstr>
      <vt:lpstr>FILES AND FILESYSTEMS</vt:lpstr>
      <vt:lpstr>FILES AND FILESYSTEMS</vt:lpstr>
      <vt:lpstr>FILES AND FILESYSTEMS</vt:lpstr>
      <vt:lpstr>FILES AND FILESYSTEMS</vt:lpstr>
      <vt:lpstr>FILES AND FILESYSTEMS</vt:lpstr>
      <vt:lpstr>FILES AND FILESYSTEMS</vt:lpstr>
      <vt:lpstr>FILES AND FILESYSTEMS</vt:lpstr>
      <vt:lpstr>FILES AND FILESYSTEMS</vt:lpstr>
      <vt:lpstr>File Structure </vt:lpstr>
      <vt:lpstr>File Structure</vt:lpstr>
      <vt:lpstr>WINDOWS FILE SYSTEMS </vt:lpstr>
      <vt:lpstr>FEATURES OF NTFS </vt:lpstr>
      <vt:lpstr>FEATURES OF NTFS </vt:lpstr>
      <vt:lpstr>Windows 7 installation </vt:lpstr>
      <vt:lpstr>Windows 7 installation </vt:lpstr>
      <vt:lpstr>Windows 7 installation </vt:lpstr>
      <vt:lpstr>BOOT-UP  PROCESS </vt:lpstr>
      <vt:lpstr>BOO-UP  PROCESS</vt:lpstr>
      <vt:lpstr>BOO-UP  PROCESS</vt:lpstr>
      <vt:lpstr>BOOT-UP  PROCESS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 MANAGEMENT</dc:title>
  <dc:creator>Mgeni</dc:creator>
  <cp:lastModifiedBy>ADMIN</cp:lastModifiedBy>
  <cp:revision>25</cp:revision>
  <dcterms:created xsi:type="dcterms:W3CDTF">2021-04-27T07:57:39Z</dcterms:created>
  <dcterms:modified xsi:type="dcterms:W3CDTF">2025-11-24T10:07:41Z</dcterms:modified>
</cp:coreProperties>
</file>