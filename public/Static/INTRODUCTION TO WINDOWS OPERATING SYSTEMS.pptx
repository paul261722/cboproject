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67" d="100"/>
          <a:sy n="67" d="100"/>
        </p:scale>
        <p:origin x="6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C9DD67E-FFA7-43F1-8694-EBE0AABB53B8}" type="datetimeFigureOut">
              <a:rPr lang="en-US" smtClean="0"/>
              <a:t>25/10/2023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364054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9DD67E-FFA7-43F1-8694-EBE0AABB53B8}" type="datetimeFigureOut">
              <a:rPr lang="en-US" smtClean="0"/>
              <a:t>25/10/2023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171743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9DD67E-FFA7-43F1-8694-EBE0AABB53B8}" type="datetimeFigureOut">
              <a:rPr lang="en-US" smtClean="0"/>
              <a:t>25/10/2023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188718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C9DD67E-FFA7-43F1-8694-EBE0AABB53B8}" type="datetimeFigureOut">
              <a:rPr lang="en-US" smtClean="0"/>
              <a:t>25/10/2023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3936373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9DD67E-FFA7-43F1-8694-EBE0AABB53B8}" type="datetimeFigureOut">
              <a:rPr lang="en-US" smtClean="0"/>
              <a:t>25/10/2023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8496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C9DD67E-FFA7-43F1-8694-EBE0AABB53B8}" type="datetimeFigureOut">
              <a:rPr lang="en-US" smtClean="0"/>
              <a:t>25/10/2023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311471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9DD67E-FFA7-43F1-8694-EBE0AABB53B8}" type="datetimeFigureOut">
              <a:rPr lang="en-US" smtClean="0"/>
              <a:t>25/10/2023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3442060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9DD67E-FFA7-43F1-8694-EBE0AABB53B8}" type="datetimeFigureOut">
              <a:rPr lang="en-US" smtClean="0"/>
              <a:t>25/10/2023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74739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9DD67E-FFA7-43F1-8694-EBE0AABB53B8}" type="datetimeFigureOut">
              <a:rPr lang="en-US" smtClean="0"/>
              <a:t>25/10/2023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31819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9DD67E-FFA7-43F1-8694-EBE0AABB53B8}" type="datetimeFigureOut">
              <a:rPr lang="en-US" smtClean="0"/>
              <a:t>25/10/2023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116403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9DD67E-FFA7-43F1-8694-EBE0AABB53B8}" type="datetimeFigureOut">
              <a:rPr lang="en-US" smtClean="0"/>
              <a:t>25/10/2023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A679D-F1A4-4F71-BE73-687AC36A0DB7}" type="slidenum">
              <a:rPr lang="en-US" smtClean="0"/>
              <a:t>‹#›</a:t>
            </a:fld>
            <a:endParaRPr lang="en-US"/>
          </a:p>
        </p:txBody>
      </p:sp>
    </p:spTree>
    <p:extLst>
      <p:ext uri="{BB962C8B-B14F-4D97-AF65-F5344CB8AC3E}">
        <p14:creationId xmlns:p14="http://schemas.microsoft.com/office/powerpoint/2010/main" val="1528361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9DD67E-FFA7-43F1-8694-EBE0AABB53B8}" type="datetimeFigureOut">
              <a:rPr lang="en-US" smtClean="0"/>
              <a:t>25/10/2023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8A679D-F1A4-4F71-BE73-687AC36A0DB7}" type="slidenum">
              <a:rPr lang="en-US" smtClean="0"/>
              <a:t>‹#›</a:t>
            </a:fld>
            <a:endParaRPr lang="en-US"/>
          </a:p>
        </p:txBody>
      </p:sp>
    </p:spTree>
    <p:extLst>
      <p:ext uri="{BB962C8B-B14F-4D97-AF65-F5344CB8AC3E}">
        <p14:creationId xmlns:p14="http://schemas.microsoft.com/office/powerpoint/2010/main" val="127390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en.wikipedia.org/wiki/Interrupt_controlle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33121"/>
            <a:ext cx="9144000" cy="2560320"/>
          </a:xfrm>
        </p:spPr>
        <p:txBody>
          <a:bodyPr>
            <a:normAutofit fontScale="90000"/>
          </a:bodyPr>
          <a:lstStyle/>
          <a:p>
            <a:r>
              <a:rPr lang="en-US" b="1" dirty="0"/>
              <a:t>INTRODUCTION TO WINDOWS OPERATING SYSTEMS</a:t>
            </a:r>
            <a:br>
              <a:rPr lang="en-US" dirty="0"/>
            </a:br>
            <a:endParaRPr lang="en-US" dirty="0"/>
          </a:p>
        </p:txBody>
      </p:sp>
      <p:sp>
        <p:nvSpPr>
          <p:cNvPr id="3" name="Subtitle 2"/>
          <p:cNvSpPr>
            <a:spLocks noGrp="1"/>
          </p:cNvSpPr>
          <p:nvPr>
            <p:ph type="subTitle" idx="1"/>
          </p:nvPr>
        </p:nvSpPr>
        <p:spPr/>
        <p:txBody>
          <a:bodyPr>
            <a:normAutofit/>
          </a:bodyPr>
          <a:lstStyle/>
          <a:p>
            <a:r>
              <a:rPr lang="en-US" sz="2800" b="1" dirty="0"/>
              <a:t>CASE STUDY OF WINDOWS 7 OS</a:t>
            </a:r>
          </a:p>
        </p:txBody>
      </p:sp>
    </p:spTree>
    <p:extLst>
      <p:ext uri="{BB962C8B-B14F-4D97-AF65-F5344CB8AC3E}">
        <p14:creationId xmlns:p14="http://schemas.microsoft.com/office/powerpoint/2010/main" val="3280028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normAutofit/>
          </a:bodyPr>
          <a:lstStyle/>
          <a:p>
            <a:pPr algn="ctr"/>
            <a:r>
              <a:rPr lang="en-US" sz="3200" b="1" dirty="0"/>
              <a:t>INTRODUCTION TO WINDOWS OPERATING SYSTEMS</a:t>
            </a:r>
            <a:endParaRPr lang="en-US" sz="3200" dirty="0"/>
          </a:p>
        </p:txBody>
      </p:sp>
      <p:sp>
        <p:nvSpPr>
          <p:cNvPr id="3" name="Content Placeholder 2"/>
          <p:cNvSpPr>
            <a:spLocks noGrp="1"/>
          </p:cNvSpPr>
          <p:nvPr>
            <p:ph idx="1"/>
          </p:nvPr>
        </p:nvSpPr>
        <p:spPr>
          <a:xfrm>
            <a:off x="838200" y="1300480"/>
            <a:ext cx="10515600" cy="5405120"/>
          </a:xfrm>
        </p:spPr>
        <p:txBody>
          <a:bodyPr>
            <a:normAutofit lnSpcReduction="10000"/>
          </a:bodyPr>
          <a:lstStyle/>
          <a:p>
            <a:r>
              <a:rPr lang="en-US" sz="3200" dirty="0"/>
              <a:t>Windows is a desktop operating system developed by Microsoft. </a:t>
            </a:r>
          </a:p>
          <a:p>
            <a:r>
              <a:rPr lang="en-US" sz="3200" dirty="0"/>
              <a:t>For the past three decades, Windows has been the most popular operating system for personal computers.</a:t>
            </a:r>
          </a:p>
          <a:p>
            <a:r>
              <a:rPr lang="en-US" sz="3200" dirty="0"/>
              <a:t>Each version of Windows comes with a graphical user interface that includes a desktop with icons and a task bar that is displayed at the bottom of the screen by default. The Windows "File Explorer" allows users to open multiple windows, browse folders, and open files and applications. Most Windows versions include a Start menu, which provides quick access to files, settings, and the Windows search feature.</a:t>
            </a:r>
          </a:p>
          <a:p>
            <a:endParaRPr lang="en-US" dirty="0"/>
          </a:p>
        </p:txBody>
      </p:sp>
    </p:spTree>
    <p:extLst>
      <p:ext uri="{BB962C8B-B14F-4D97-AF65-F5344CB8AC3E}">
        <p14:creationId xmlns:p14="http://schemas.microsoft.com/office/powerpoint/2010/main" val="1373342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INTRODUCTION TO WINDOWS OPERATING SYSTEMS</a:t>
            </a:r>
            <a:endParaRPr lang="en-US" sz="3200" dirty="0"/>
          </a:p>
        </p:txBody>
      </p:sp>
      <p:sp>
        <p:nvSpPr>
          <p:cNvPr id="3" name="Content Placeholder 2"/>
          <p:cNvSpPr>
            <a:spLocks noGrp="1"/>
          </p:cNvSpPr>
          <p:nvPr>
            <p:ph idx="1"/>
          </p:nvPr>
        </p:nvSpPr>
        <p:spPr/>
        <p:txBody>
          <a:bodyPr/>
          <a:lstStyle/>
          <a:p>
            <a:r>
              <a:rPr lang="en-US" dirty="0"/>
              <a:t>The first version of Windows was released in 1985. Since then, the OS has gone through several major updates. A few of the most notable Windows releases include:</a:t>
            </a:r>
          </a:p>
          <a:p>
            <a:pPr lvl="0"/>
            <a:r>
              <a:rPr lang="en-US" dirty="0"/>
              <a:t>Windows 3.1 (1992)</a:t>
            </a:r>
          </a:p>
          <a:p>
            <a:pPr lvl="0"/>
            <a:r>
              <a:rPr lang="en-US" dirty="0"/>
              <a:t>Windows 95 (1995)</a:t>
            </a:r>
          </a:p>
          <a:p>
            <a:pPr lvl="0"/>
            <a:r>
              <a:rPr lang="en-US" dirty="0"/>
              <a:t>Windows XP (2001)</a:t>
            </a:r>
          </a:p>
          <a:p>
            <a:pPr lvl="0"/>
            <a:r>
              <a:rPr lang="en-US" dirty="0"/>
              <a:t>Windows 7 (2009)</a:t>
            </a:r>
          </a:p>
          <a:p>
            <a:pPr lvl="0"/>
            <a:r>
              <a:rPr lang="en-US" dirty="0"/>
              <a:t>Windows 10 (2015)</a:t>
            </a:r>
          </a:p>
          <a:p>
            <a:endParaRPr lang="en-US" dirty="0"/>
          </a:p>
        </p:txBody>
      </p:sp>
    </p:spTree>
    <p:extLst>
      <p:ext uri="{BB962C8B-B14F-4D97-AF65-F5344CB8AC3E}">
        <p14:creationId xmlns:p14="http://schemas.microsoft.com/office/powerpoint/2010/main" val="93696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INTRODUCTION TO WINDOWS OPERATING SYSTEMS</a:t>
            </a:r>
            <a:endParaRPr lang="en-US" sz="3200" dirty="0"/>
          </a:p>
        </p:txBody>
      </p:sp>
      <p:sp>
        <p:nvSpPr>
          <p:cNvPr id="3" name="Content Placeholder 2"/>
          <p:cNvSpPr>
            <a:spLocks noGrp="1"/>
          </p:cNvSpPr>
          <p:nvPr>
            <p:ph idx="1"/>
          </p:nvPr>
        </p:nvSpPr>
        <p:spPr/>
        <p:txBody>
          <a:bodyPr/>
          <a:lstStyle/>
          <a:p>
            <a:r>
              <a:rPr lang="en-US" sz="3200" dirty="0"/>
              <a:t>The above versions of Windows had long lifespans and were well received by users. Some of the less-popular versions of Windows, which had shorter lifespans, include:</a:t>
            </a:r>
          </a:p>
          <a:p>
            <a:pPr lvl="0"/>
            <a:r>
              <a:rPr lang="en-US" sz="3200" dirty="0"/>
              <a:t>Windows 98 (1998)</a:t>
            </a:r>
          </a:p>
          <a:p>
            <a:pPr lvl="0"/>
            <a:r>
              <a:rPr lang="en-US" sz="3200" dirty="0"/>
              <a:t>Windows Me (2000)</a:t>
            </a:r>
          </a:p>
          <a:p>
            <a:pPr lvl="0"/>
            <a:r>
              <a:rPr lang="en-US" sz="3200" dirty="0"/>
              <a:t>Windows Vista (2006)</a:t>
            </a:r>
          </a:p>
          <a:p>
            <a:pPr lvl="0"/>
            <a:r>
              <a:rPr lang="en-US" sz="3200" dirty="0"/>
              <a:t>Windows 8 (2012)</a:t>
            </a:r>
          </a:p>
          <a:p>
            <a:endParaRPr lang="en-US" dirty="0"/>
          </a:p>
        </p:txBody>
      </p:sp>
    </p:spTree>
    <p:extLst>
      <p:ext uri="{BB962C8B-B14F-4D97-AF65-F5344CB8AC3E}">
        <p14:creationId xmlns:p14="http://schemas.microsoft.com/office/powerpoint/2010/main" val="143517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INTRODUCTION TO WINDOWS OPERATING SYSTEMS</a:t>
            </a:r>
            <a:endParaRPr lang="en-US" sz="3200" dirty="0"/>
          </a:p>
        </p:txBody>
      </p:sp>
      <p:sp>
        <p:nvSpPr>
          <p:cNvPr id="3" name="Content Placeholder 2"/>
          <p:cNvSpPr>
            <a:spLocks noGrp="1"/>
          </p:cNvSpPr>
          <p:nvPr>
            <p:ph idx="1"/>
          </p:nvPr>
        </p:nvSpPr>
        <p:spPr>
          <a:xfrm>
            <a:off x="838200" y="1483360"/>
            <a:ext cx="10515600" cy="4693603"/>
          </a:xfrm>
        </p:spPr>
        <p:txBody>
          <a:bodyPr>
            <a:normAutofit/>
          </a:bodyPr>
          <a:lstStyle/>
          <a:p>
            <a:r>
              <a:rPr lang="en-US" dirty="0"/>
              <a:t>Microsoft has released most versions of Windows with multiple editions, tailored for different users. </a:t>
            </a:r>
          </a:p>
          <a:p>
            <a:r>
              <a:rPr lang="en-US" dirty="0"/>
              <a:t>For example, Windows 10 is available in "Home" and "Pro" editions. The Home edition is sufficient for most users, while the Pro edition includes additional networking and administrative features useful in corporate workspaces.</a:t>
            </a:r>
          </a:p>
          <a:p>
            <a:r>
              <a:rPr lang="en-US" dirty="0"/>
              <a:t>Windows runs on standard x86 hardware, such as Intel and AMD processors. Unlike Apple, Microsoft licenses the OS to multiple manufacturers. Therefore, numerous companies, such as Dell, HP, Acer, Asus, Lenovo, sell Windows PCs. Microsoft develops its own line of Windows Surface laptops as well.</a:t>
            </a:r>
          </a:p>
          <a:p>
            <a:endParaRPr lang="en-US" dirty="0"/>
          </a:p>
          <a:p>
            <a:endParaRPr lang="en-US" dirty="0"/>
          </a:p>
        </p:txBody>
      </p:sp>
    </p:spTree>
    <p:extLst>
      <p:ext uri="{BB962C8B-B14F-4D97-AF65-F5344CB8AC3E}">
        <p14:creationId xmlns:p14="http://schemas.microsoft.com/office/powerpoint/2010/main" val="1471412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INTRODUCTION TO WINDOWS OPERATING SYSTEMS</a:t>
            </a:r>
            <a:endParaRPr lang="en-US" sz="3200" dirty="0"/>
          </a:p>
        </p:txBody>
      </p:sp>
      <p:sp>
        <p:nvSpPr>
          <p:cNvPr id="3" name="Content Placeholder 2"/>
          <p:cNvSpPr>
            <a:spLocks noGrp="1"/>
          </p:cNvSpPr>
          <p:nvPr>
            <p:ph idx="1"/>
          </p:nvPr>
        </p:nvSpPr>
        <p:spPr/>
        <p:txBody>
          <a:bodyPr/>
          <a:lstStyle/>
          <a:p>
            <a:r>
              <a:rPr lang="en-US" dirty="0"/>
              <a:t>Software programs written for Windows may be called apps, applications, or executable files. </a:t>
            </a:r>
          </a:p>
          <a:p>
            <a:r>
              <a:rPr lang="en-US" dirty="0"/>
              <a:t>Regardless of their label, Windows software programs have an .EXE file extension. 64-bit versions of Windows run both 32 and 64-bit apps, while 32-bit versions only run 32-bit applications.</a:t>
            </a:r>
          </a:p>
          <a:p>
            <a:endParaRPr lang="en-US" dirty="0"/>
          </a:p>
          <a:p>
            <a:endParaRPr lang="en-US" dirty="0"/>
          </a:p>
        </p:txBody>
      </p:sp>
    </p:spTree>
    <p:extLst>
      <p:ext uri="{BB962C8B-B14F-4D97-AF65-F5344CB8AC3E}">
        <p14:creationId xmlns:p14="http://schemas.microsoft.com/office/powerpoint/2010/main" val="2673638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WINDOWS 7 DESIGN PRINCIPLES</a:t>
            </a:r>
          </a:p>
        </p:txBody>
      </p:sp>
      <p:sp>
        <p:nvSpPr>
          <p:cNvPr id="3" name="Content Placeholder 2"/>
          <p:cNvSpPr>
            <a:spLocks noGrp="1"/>
          </p:cNvSpPr>
          <p:nvPr>
            <p:ph idx="1"/>
          </p:nvPr>
        </p:nvSpPr>
        <p:spPr>
          <a:xfrm>
            <a:off x="838200" y="1341120"/>
            <a:ext cx="10515600" cy="5140960"/>
          </a:xfrm>
        </p:spPr>
        <p:txBody>
          <a:bodyPr>
            <a:normAutofit/>
          </a:bodyPr>
          <a:lstStyle/>
          <a:p>
            <a:pPr lvl="0"/>
            <a:r>
              <a:rPr lang="en-US" dirty="0"/>
              <a:t>Extensibility (layered architecture)- Executive runs in protected mode and provides the basic system services.</a:t>
            </a:r>
          </a:p>
          <a:p>
            <a:pPr marL="0" indent="0">
              <a:buNone/>
            </a:pPr>
            <a:r>
              <a:rPr lang="en-US" dirty="0"/>
              <a:t>- On top of executive are several server subsystems which run in user mode</a:t>
            </a:r>
          </a:p>
          <a:p>
            <a:pPr>
              <a:buFontTx/>
              <a:buChar char="-"/>
            </a:pPr>
            <a:r>
              <a:rPr lang="en-US" dirty="0"/>
              <a:t>Modular structure allows additional subsystems to be added without affecting the executive.</a:t>
            </a:r>
          </a:p>
          <a:p>
            <a:pPr lvl="0"/>
            <a:r>
              <a:rPr lang="en-US" dirty="0"/>
              <a:t>Portability- W7 can be moved from one hardware architecture to another with relatively few changes. Processor dependent code is isolated in a DLL called Hardware Abstraction Layer (HAL)</a:t>
            </a:r>
          </a:p>
          <a:p>
            <a:pPr marL="0" indent="0">
              <a:buNone/>
            </a:pPr>
            <a:endParaRPr lang="en-US" dirty="0"/>
          </a:p>
          <a:p>
            <a:endParaRPr lang="en-US" dirty="0"/>
          </a:p>
        </p:txBody>
      </p:sp>
    </p:spTree>
    <p:extLst>
      <p:ext uri="{BB962C8B-B14F-4D97-AF65-F5344CB8AC3E}">
        <p14:creationId xmlns:p14="http://schemas.microsoft.com/office/powerpoint/2010/main" val="4207761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795"/>
          </a:xfrm>
        </p:spPr>
        <p:txBody>
          <a:bodyPr/>
          <a:lstStyle/>
          <a:p>
            <a:pPr algn="ctr"/>
            <a:r>
              <a:rPr lang="en-US" b="1" dirty="0"/>
              <a:t>WINDOWS 7 DESIGN PRINCIPLES</a:t>
            </a:r>
            <a:endParaRPr lang="en-US" dirty="0"/>
          </a:p>
        </p:txBody>
      </p:sp>
      <p:sp>
        <p:nvSpPr>
          <p:cNvPr id="3" name="Content Placeholder 2"/>
          <p:cNvSpPr>
            <a:spLocks noGrp="1"/>
          </p:cNvSpPr>
          <p:nvPr>
            <p:ph idx="1"/>
          </p:nvPr>
        </p:nvSpPr>
        <p:spPr>
          <a:xfrm>
            <a:off x="838200" y="1137920"/>
            <a:ext cx="10515600" cy="5364480"/>
          </a:xfrm>
        </p:spPr>
        <p:txBody>
          <a:bodyPr/>
          <a:lstStyle/>
          <a:p>
            <a:pPr lvl="0"/>
            <a:r>
              <a:rPr lang="en-US" dirty="0"/>
              <a:t>Reliability – W7 uses hardware protection for virtual memory and software mechanisms for operating system resources.</a:t>
            </a:r>
          </a:p>
          <a:p>
            <a:pPr lvl="0"/>
            <a:r>
              <a:rPr lang="en-US" dirty="0"/>
              <a:t>Compatibility- Applications that follow the IEEE 1003.1 (POSIX) standard can be complied to run </a:t>
            </a:r>
            <a:r>
              <a:rPr lang="en-US"/>
              <a:t>in W7 </a:t>
            </a:r>
            <a:r>
              <a:rPr lang="en-US" dirty="0"/>
              <a:t>without changing the source code.</a:t>
            </a:r>
          </a:p>
          <a:p>
            <a:pPr lvl="0"/>
            <a:r>
              <a:rPr lang="en-US" dirty="0"/>
              <a:t>Performance – W7 subsystems can communicate with one another via high performance message passing and pre-emption of low priority threads enables the system to respond quickly to external events. W7 is designed for symmetric multiprocessing.</a:t>
            </a:r>
          </a:p>
          <a:p>
            <a:pPr marL="0" indent="0">
              <a:buNone/>
            </a:pPr>
            <a:endParaRPr lang="en-US" dirty="0"/>
          </a:p>
        </p:txBody>
      </p:sp>
    </p:spTree>
    <p:extLst>
      <p:ext uri="{BB962C8B-B14F-4D97-AF65-F5344CB8AC3E}">
        <p14:creationId xmlns:p14="http://schemas.microsoft.com/office/powerpoint/2010/main" val="294399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561"/>
            <a:ext cx="10515600" cy="1239519"/>
          </a:xfrm>
        </p:spPr>
        <p:txBody>
          <a:bodyPr>
            <a:normAutofit fontScale="90000"/>
          </a:bodyPr>
          <a:lstStyle/>
          <a:p>
            <a:pPr algn="ctr"/>
            <a:r>
              <a:rPr lang="en-US" dirty="0"/>
              <a:t>WINDOWS7 ARCHITECTURE</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838200" y="833120"/>
            <a:ext cx="10337800" cy="6024880"/>
          </a:xfrm>
          <a:prstGeom prst="rect">
            <a:avLst/>
          </a:prstGeom>
        </p:spPr>
      </p:pic>
    </p:spTree>
    <p:extLst>
      <p:ext uri="{BB962C8B-B14F-4D97-AF65-F5344CB8AC3E}">
        <p14:creationId xmlns:p14="http://schemas.microsoft.com/office/powerpoint/2010/main" val="1258920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795"/>
          </a:xfrm>
        </p:spPr>
        <p:txBody>
          <a:bodyPr/>
          <a:lstStyle/>
          <a:p>
            <a:pPr algn="ctr"/>
            <a:r>
              <a:rPr lang="en-US" b="1" dirty="0"/>
              <a:t>WINDOWS7 ARCHITECTURE</a:t>
            </a:r>
          </a:p>
        </p:txBody>
      </p:sp>
      <p:sp>
        <p:nvSpPr>
          <p:cNvPr id="3" name="Content Placeholder 2"/>
          <p:cNvSpPr>
            <a:spLocks noGrp="1"/>
          </p:cNvSpPr>
          <p:nvPr>
            <p:ph idx="1"/>
          </p:nvPr>
        </p:nvSpPr>
        <p:spPr>
          <a:xfrm>
            <a:off x="838200" y="1137920"/>
            <a:ext cx="10515600" cy="5506720"/>
          </a:xfrm>
        </p:spPr>
        <p:txBody>
          <a:bodyPr/>
          <a:lstStyle/>
          <a:p>
            <a:pPr marL="0" indent="0">
              <a:buNone/>
            </a:pPr>
            <a:r>
              <a:rPr lang="en-US" b="1" u="sng" dirty="0"/>
              <a:t>USER MODE</a:t>
            </a:r>
            <a:endParaRPr lang="en-US" dirty="0"/>
          </a:p>
          <a:p>
            <a:pPr lvl="0"/>
            <a:r>
              <a:rPr lang="en-US" dirty="0"/>
              <a:t>User mode is a processor mode in which programs has only limited access to system information and can access hardware only through other operating system services.</a:t>
            </a:r>
          </a:p>
          <a:p>
            <a:pPr lvl="0"/>
            <a:r>
              <a:rPr lang="en-US" dirty="0"/>
              <a:t>The OS has several subsystems or modules that operate use this mode, and interface the user with applications.</a:t>
            </a:r>
          </a:p>
          <a:p>
            <a:pPr lvl="0"/>
            <a:r>
              <a:rPr lang="en-US" dirty="0"/>
              <a:t>Win 32 subsystem allows applications to relate to Windows 7 either directly or indirectly.</a:t>
            </a:r>
          </a:p>
          <a:p>
            <a:pPr lvl="0"/>
            <a:r>
              <a:rPr lang="en-US" dirty="0"/>
              <a:t>Each legacy DOS application resides in its own NTVDM, which is a carefully controlled environment where a DOS application can interface with only one subsystem.</a:t>
            </a:r>
          </a:p>
        </p:txBody>
      </p:sp>
    </p:spTree>
    <p:extLst>
      <p:ext uri="{BB962C8B-B14F-4D97-AF65-F5344CB8AC3E}">
        <p14:creationId xmlns:p14="http://schemas.microsoft.com/office/powerpoint/2010/main" val="3688904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pPr algn="ctr"/>
            <a:r>
              <a:rPr lang="en-US" b="1" dirty="0"/>
              <a:t>WINDOWS7 ARCHITECTURE</a:t>
            </a:r>
            <a:endParaRPr lang="en-US" dirty="0"/>
          </a:p>
        </p:txBody>
      </p:sp>
      <p:sp>
        <p:nvSpPr>
          <p:cNvPr id="3" name="Content Placeholder 2"/>
          <p:cNvSpPr>
            <a:spLocks noGrp="1"/>
          </p:cNvSpPr>
          <p:nvPr>
            <p:ph idx="1"/>
          </p:nvPr>
        </p:nvSpPr>
        <p:spPr>
          <a:xfrm>
            <a:off x="838200" y="975360"/>
            <a:ext cx="10515600" cy="5882640"/>
          </a:xfrm>
        </p:spPr>
        <p:txBody>
          <a:bodyPr/>
          <a:lstStyle/>
          <a:p>
            <a:pPr marL="0" indent="0">
              <a:buNone/>
            </a:pPr>
            <a:r>
              <a:rPr lang="en-US" b="1" dirty="0"/>
              <a:t>USER MODE </a:t>
            </a:r>
            <a:r>
              <a:rPr lang="en-US" dirty="0"/>
              <a:t>cont’d</a:t>
            </a:r>
          </a:p>
          <a:p>
            <a:pPr lvl="0"/>
            <a:r>
              <a:rPr lang="en-US" dirty="0"/>
              <a:t>All 16-bit Windows 3.x applications reside in a WIN 16 or Windows on Windows (WOW) Environment. Within the WOW, the 16-bit applications can only communicate with one another and the WOW.</a:t>
            </a:r>
          </a:p>
          <a:p>
            <a:pPr lvl="0"/>
            <a:r>
              <a:rPr lang="en-US" dirty="0"/>
              <a:t>32-bit applications do not require an NTVDM and can relate directly to the Win 32 subsystem directly. They can use a single thread with the Win 32 subsystem or multiple threads.</a:t>
            </a:r>
          </a:p>
          <a:p>
            <a:pPr lvl="0"/>
            <a:r>
              <a:rPr lang="en-US" dirty="0"/>
              <a:t>Win 32 s/s also allows applications written in POSIX.1 standard to run in windows 7</a:t>
            </a:r>
          </a:p>
          <a:p>
            <a:pPr lvl="0"/>
            <a:r>
              <a:rPr lang="en-US" dirty="0"/>
              <a:t>Win 32 security subsystem provides logon to the system and other security functions, including privileges for file access.</a:t>
            </a:r>
          </a:p>
          <a:p>
            <a:pPr marL="0" indent="0">
              <a:buNone/>
            </a:pPr>
            <a:endParaRPr lang="en-US" dirty="0"/>
          </a:p>
        </p:txBody>
      </p:sp>
    </p:spTree>
    <p:extLst>
      <p:ext uri="{BB962C8B-B14F-4D97-AF65-F5344CB8AC3E}">
        <p14:creationId xmlns:p14="http://schemas.microsoft.com/office/powerpoint/2010/main" val="4088619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841"/>
            <a:ext cx="10515600" cy="772160"/>
          </a:xfrm>
        </p:spPr>
        <p:txBody>
          <a:bodyPr>
            <a:normAutofit/>
          </a:bodyPr>
          <a:lstStyle/>
          <a:p>
            <a:pPr algn="ctr"/>
            <a:r>
              <a:rPr lang="en-US" b="1" dirty="0"/>
              <a:t>WINDOWS7 ARCHITECTURE</a:t>
            </a:r>
            <a:endParaRPr lang="en-US" dirty="0"/>
          </a:p>
        </p:txBody>
      </p:sp>
      <p:sp>
        <p:nvSpPr>
          <p:cNvPr id="3" name="Content Placeholder 2"/>
          <p:cNvSpPr>
            <a:spLocks noGrp="1"/>
          </p:cNvSpPr>
          <p:nvPr>
            <p:ph idx="1"/>
          </p:nvPr>
        </p:nvSpPr>
        <p:spPr>
          <a:xfrm>
            <a:off x="838200" y="1361440"/>
            <a:ext cx="10515600" cy="5262880"/>
          </a:xfrm>
        </p:spPr>
        <p:txBody>
          <a:bodyPr>
            <a:normAutofit fontScale="92500" lnSpcReduction="20000"/>
          </a:bodyPr>
          <a:lstStyle/>
          <a:p>
            <a:pPr marL="0" indent="0">
              <a:buNone/>
            </a:pPr>
            <a:r>
              <a:rPr lang="en-US" b="1" dirty="0"/>
              <a:t>Kernel mode</a:t>
            </a:r>
            <a:r>
              <a:rPr lang="en-US" dirty="0"/>
              <a:t>									</a:t>
            </a:r>
          </a:p>
          <a:p>
            <a:pPr lvl="0"/>
            <a:r>
              <a:rPr lang="en-US" sz="3000" dirty="0"/>
              <a:t>Kernel mode is the privileged mode of the OS. The components that run under kernel mode are the executive, kernel, device drivers and windowing and graphics system.</a:t>
            </a:r>
          </a:p>
          <a:p>
            <a:pPr lvl="0"/>
            <a:r>
              <a:rPr lang="en-US" sz="3000" dirty="0"/>
              <a:t>The executive services interface between the subsystems in user mode and the HAL. </a:t>
            </a:r>
          </a:p>
          <a:p>
            <a:pPr lvl="0"/>
            <a:r>
              <a:rPr lang="en-US" sz="3000" dirty="0"/>
              <a:t>Kernel mode has full access to the hardware and system resources of the computer and runs code in a protected memory area.</a:t>
            </a:r>
          </a:p>
          <a:p>
            <a:pPr lvl="0"/>
            <a:r>
              <a:rPr lang="en-US" sz="3000" dirty="0"/>
              <a:t>The components operating in kernel mode interact directly with hardware and are the parts that need to be changed when windows moves from one hardware platform to another. </a:t>
            </a:r>
          </a:p>
          <a:p>
            <a:pPr lvl="0"/>
            <a:r>
              <a:rPr lang="en-US" sz="3000" dirty="0"/>
              <a:t>The kernel mode stops user mode services and applications from accessing critical areas of the operating system that they should not have access to.</a:t>
            </a:r>
          </a:p>
          <a:p>
            <a:endParaRPr lang="en-US" sz="3000" dirty="0"/>
          </a:p>
        </p:txBody>
      </p:sp>
    </p:spTree>
    <p:extLst>
      <p:ext uri="{BB962C8B-B14F-4D97-AF65-F5344CB8AC3E}">
        <p14:creationId xmlns:p14="http://schemas.microsoft.com/office/powerpoint/2010/main" val="3401544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4161"/>
            <a:ext cx="10515600" cy="792480"/>
          </a:xfrm>
        </p:spPr>
        <p:txBody>
          <a:bodyPr>
            <a:normAutofit/>
          </a:bodyPr>
          <a:lstStyle/>
          <a:p>
            <a:pPr algn="ctr"/>
            <a:r>
              <a:rPr lang="en-US" b="1" dirty="0"/>
              <a:t>WINDOWS7 ARCHITECTURE</a:t>
            </a:r>
            <a:endParaRPr lang="en-US" dirty="0"/>
          </a:p>
        </p:txBody>
      </p:sp>
      <p:sp>
        <p:nvSpPr>
          <p:cNvPr id="3" name="Content Placeholder 2"/>
          <p:cNvSpPr>
            <a:spLocks noGrp="1"/>
          </p:cNvSpPr>
          <p:nvPr>
            <p:ph idx="1"/>
          </p:nvPr>
        </p:nvSpPr>
        <p:spPr>
          <a:xfrm>
            <a:off x="838200" y="1056641"/>
            <a:ext cx="10515600" cy="5486399"/>
          </a:xfrm>
        </p:spPr>
        <p:txBody>
          <a:bodyPr>
            <a:normAutofit fontScale="92500" lnSpcReduction="10000"/>
          </a:bodyPr>
          <a:lstStyle/>
          <a:p>
            <a:pPr marL="0" indent="0">
              <a:buNone/>
            </a:pPr>
            <a:r>
              <a:rPr lang="en-US" b="1" dirty="0"/>
              <a:t>Microkernel.	</a:t>
            </a:r>
            <a:r>
              <a:rPr lang="en-US" dirty="0"/>
              <a:t>								</a:t>
            </a:r>
          </a:p>
          <a:p>
            <a:pPr marL="0" indent="0">
              <a:buNone/>
            </a:pPr>
            <a:r>
              <a:rPr lang="en-US" dirty="0"/>
              <a:t>It is the foundation for the executive and the subsystems and has four main roles</a:t>
            </a:r>
          </a:p>
          <a:p>
            <a:pPr lvl="0"/>
            <a:r>
              <a:rPr lang="en-US" dirty="0"/>
              <a:t>Thread scheduling and dispatching. Scheduling occurs when a thread enters the ready or wait state, when a thread terminates or when a thread’s priority or processor affinity changes. Dispatch is allocation of processor time to jobs and tasks that are ready for execution.</a:t>
            </a:r>
          </a:p>
          <a:p>
            <a:pPr lvl="0"/>
            <a:r>
              <a:rPr lang="en-US" dirty="0"/>
              <a:t>Provides Trap handling when exceptions and interrupts are generated by hardware or software. Exceptions occur as part of a standard application execution e.g. arithmetic overflow, while interrupt is a signal from a hardware device which needs attention.</a:t>
            </a:r>
          </a:p>
          <a:p>
            <a:pPr lvl="0"/>
            <a:r>
              <a:rPr lang="en-US" dirty="0"/>
              <a:t>It provides exception dispatching for exceptions that cannot be handled by the trap handler.</a:t>
            </a:r>
          </a:p>
          <a:p>
            <a:pPr lvl="0"/>
            <a:r>
              <a:rPr lang="en-US" dirty="0"/>
              <a:t>Initializes device drivers at boot-up that are necessary to get the OS up and running and provides recovery after power failure</a:t>
            </a:r>
          </a:p>
          <a:p>
            <a:endParaRPr lang="en-US" dirty="0"/>
          </a:p>
        </p:txBody>
      </p:sp>
    </p:spTree>
    <p:extLst>
      <p:ext uri="{BB962C8B-B14F-4D97-AF65-F5344CB8AC3E}">
        <p14:creationId xmlns:p14="http://schemas.microsoft.com/office/powerpoint/2010/main" val="112929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521"/>
            <a:ext cx="10515600" cy="812800"/>
          </a:xfrm>
        </p:spPr>
        <p:txBody>
          <a:bodyPr>
            <a:normAutofit/>
          </a:bodyPr>
          <a:lstStyle/>
          <a:p>
            <a:pPr algn="ctr"/>
            <a:r>
              <a:rPr lang="en-US" b="1" dirty="0"/>
              <a:t>WINDOWS7 ARCHITECTURE</a:t>
            </a:r>
            <a:endParaRPr lang="en-US" dirty="0"/>
          </a:p>
        </p:txBody>
      </p:sp>
      <p:sp>
        <p:nvSpPr>
          <p:cNvPr id="3" name="Content Placeholder 2"/>
          <p:cNvSpPr>
            <a:spLocks noGrp="1"/>
          </p:cNvSpPr>
          <p:nvPr>
            <p:ph idx="1"/>
          </p:nvPr>
        </p:nvSpPr>
        <p:spPr>
          <a:xfrm>
            <a:off x="838200" y="1300480"/>
            <a:ext cx="10515600" cy="5201920"/>
          </a:xfrm>
        </p:spPr>
        <p:txBody>
          <a:bodyPr/>
          <a:lstStyle/>
          <a:p>
            <a:pPr marL="0" indent="0">
              <a:buNone/>
            </a:pPr>
            <a:r>
              <a:rPr lang="en-US" b="1" dirty="0"/>
              <a:t>Kernel threads and processes</a:t>
            </a:r>
            <a:endParaRPr lang="en-US" dirty="0"/>
          </a:p>
          <a:p>
            <a:pPr lvl="0"/>
            <a:r>
              <a:rPr lang="en-US" dirty="0"/>
              <a:t>The process has a virtual memory address space, information (such as base priority) and an affinity for one or more processes.</a:t>
            </a:r>
          </a:p>
          <a:p>
            <a:pPr lvl="0"/>
            <a:r>
              <a:rPr lang="en-US" dirty="0"/>
              <a:t>Threads are the unit of execution scheduled by the kernel’s dispatcher</a:t>
            </a:r>
          </a:p>
          <a:p>
            <a:pPr lvl="0"/>
            <a:r>
              <a:rPr lang="en-US" dirty="0"/>
              <a:t>Each thread has its own state, including a priority, processor affinity (each thread or process has an identifier of its preferred processor), and accounting information.</a:t>
            </a:r>
          </a:p>
          <a:p>
            <a:pPr lvl="0"/>
            <a:r>
              <a:rPr lang="en-US" dirty="0"/>
              <a:t>A thread can be in one of six states; ready, standby, running, waiting, transition, and terminated.</a:t>
            </a:r>
          </a:p>
          <a:p>
            <a:endParaRPr lang="en-US" dirty="0"/>
          </a:p>
        </p:txBody>
      </p:sp>
    </p:spTree>
    <p:extLst>
      <p:ext uri="{BB962C8B-B14F-4D97-AF65-F5344CB8AC3E}">
        <p14:creationId xmlns:p14="http://schemas.microsoft.com/office/powerpoint/2010/main" val="1793476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841"/>
            <a:ext cx="10515600" cy="690879"/>
          </a:xfrm>
        </p:spPr>
        <p:txBody>
          <a:bodyPr>
            <a:normAutofit fontScale="90000"/>
          </a:bodyPr>
          <a:lstStyle/>
          <a:p>
            <a:pPr algn="ctr"/>
            <a:r>
              <a:rPr lang="en-US" b="1" dirty="0"/>
              <a:t>WINDOWS7 ARCHITECTURE</a:t>
            </a:r>
            <a:endParaRPr lang="en-US" dirty="0"/>
          </a:p>
        </p:txBody>
      </p:sp>
      <p:sp>
        <p:nvSpPr>
          <p:cNvPr id="3" name="Content Placeholder 2"/>
          <p:cNvSpPr>
            <a:spLocks noGrp="1"/>
          </p:cNvSpPr>
          <p:nvPr>
            <p:ph idx="1"/>
          </p:nvPr>
        </p:nvSpPr>
        <p:spPr>
          <a:xfrm>
            <a:off x="838200" y="1239520"/>
            <a:ext cx="10515600" cy="4937443"/>
          </a:xfrm>
        </p:spPr>
        <p:txBody>
          <a:bodyPr/>
          <a:lstStyle/>
          <a:p>
            <a:pPr marL="0" indent="0">
              <a:buNone/>
            </a:pPr>
            <a:r>
              <a:rPr lang="en-US" b="1" dirty="0"/>
              <a:t>Hardware Abstraction Layer</a:t>
            </a:r>
            <a:r>
              <a:rPr lang="en-US" dirty="0"/>
              <a:t>							</a:t>
            </a:r>
          </a:p>
          <a:p>
            <a:pPr lvl="0"/>
            <a:r>
              <a:rPr lang="en-US" dirty="0"/>
              <a:t>HAL is a layer between the physical hardware of the computer and the rest of the operating system.</a:t>
            </a:r>
          </a:p>
          <a:p>
            <a:pPr lvl="0"/>
            <a:r>
              <a:rPr lang="en-US" dirty="0"/>
              <a:t>It was designed to hide differences in hardware and therefore provide a consistent platform on which the kernel is run. </a:t>
            </a:r>
          </a:p>
          <a:p>
            <a:pPr lvl="0"/>
            <a:r>
              <a:rPr lang="en-US" dirty="0"/>
              <a:t>The HAL includes hardware-specific code that controls I/O interfaces, </a:t>
            </a:r>
            <a:r>
              <a:rPr lang="en-US" u="sng" dirty="0">
                <a:hlinkClick r:id="rId2" tooltip="Interrupt controller"/>
              </a:rPr>
              <a:t>interrupt controllers</a:t>
            </a:r>
            <a:r>
              <a:rPr lang="en-US" dirty="0"/>
              <a:t> and multiple processors. </a:t>
            </a:r>
          </a:p>
          <a:p>
            <a:pPr lvl="0"/>
            <a:r>
              <a:rPr lang="en-US" dirty="0"/>
              <a:t>It also delivers support needed for symmetric multiprocessing.</a:t>
            </a:r>
          </a:p>
          <a:p>
            <a:endParaRPr lang="en-US" dirty="0"/>
          </a:p>
        </p:txBody>
      </p:sp>
    </p:spTree>
    <p:extLst>
      <p:ext uri="{BB962C8B-B14F-4D97-AF65-F5344CB8AC3E}">
        <p14:creationId xmlns:p14="http://schemas.microsoft.com/office/powerpoint/2010/main" val="174746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841"/>
            <a:ext cx="10515600" cy="812800"/>
          </a:xfrm>
        </p:spPr>
        <p:txBody>
          <a:bodyPr>
            <a:normAutofit/>
          </a:bodyPr>
          <a:lstStyle/>
          <a:p>
            <a:pPr algn="ctr"/>
            <a:r>
              <a:rPr lang="en-US" b="1" dirty="0"/>
              <a:t>WINDOWS7 ARCHITECTURE</a:t>
            </a:r>
            <a:endParaRPr lang="en-US" dirty="0"/>
          </a:p>
        </p:txBody>
      </p:sp>
      <p:sp>
        <p:nvSpPr>
          <p:cNvPr id="3" name="Content Placeholder 2"/>
          <p:cNvSpPr>
            <a:spLocks noGrp="1"/>
          </p:cNvSpPr>
          <p:nvPr>
            <p:ph idx="1"/>
          </p:nvPr>
        </p:nvSpPr>
        <p:spPr>
          <a:xfrm>
            <a:off x="838200" y="1056641"/>
            <a:ext cx="10515600" cy="5648959"/>
          </a:xfrm>
        </p:spPr>
        <p:txBody>
          <a:bodyPr>
            <a:normAutofit fontScale="92500" lnSpcReduction="20000"/>
          </a:bodyPr>
          <a:lstStyle/>
          <a:p>
            <a:pPr marL="0" indent="0">
              <a:buNone/>
            </a:pPr>
            <a:r>
              <a:rPr lang="en-US" b="1" dirty="0"/>
              <a:t>Executive subsystems</a:t>
            </a:r>
          </a:p>
          <a:p>
            <a:pPr marL="0" indent="0">
              <a:buNone/>
            </a:pPr>
            <a:r>
              <a:rPr lang="en-US" b="1" dirty="0"/>
              <a:t>I/O manager.	</a:t>
            </a:r>
            <a:endParaRPr lang="en-US" sz="2400" dirty="0"/>
          </a:p>
          <a:p>
            <a:pPr lvl="0"/>
            <a:r>
              <a:rPr lang="en-US" dirty="0"/>
              <a:t>The I/O manager is responsible for file systems </a:t>
            </a:r>
          </a:p>
          <a:p>
            <a:pPr lvl="1"/>
            <a:r>
              <a:rPr lang="en-US" sz="2800" dirty="0"/>
              <a:t>Cache management </a:t>
            </a:r>
          </a:p>
          <a:p>
            <a:pPr lvl="1"/>
            <a:r>
              <a:rPr lang="en-US" sz="2800" dirty="0"/>
              <a:t>Device drivers </a:t>
            </a:r>
          </a:p>
          <a:p>
            <a:pPr lvl="1"/>
            <a:r>
              <a:rPr lang="en-US" sz="2800" dirty="0"/>
              <a:t>Network drivers </a:t>
            </a:r>
          </a:p>
          <a:p>
            <a:r>
              <a:rPr lang="en-US" dirty="0"/>
              <a:t>The I/O Manager allows devices to communicate with user-mode subsystems. </a:t>
            </a:r>
          </a:p>
          <a:p>
            <a:pPr lvl="0"/>
            <a:r>
              <a:rPr lang="en-US" dirty="0"/>
              <a:t>Keeps track of which installable file systems are loaded, and manages buffers for I/O requests </a:t>
            </a:r>
          </a:p>
          <a:p>
            <a:pPr lvl="0"/>
            <a:r>
              <a:rPr lang="en-US" dirty="0"/>
              <a:t>Works with VM Manager to provide memory-mapped file I/O </a:t>
            </a:r>
          </a:p>
          <a:p>
            <a:pPr lvl="0"/>
            <a:r>
              <a:rPr lang="en-US" dirty="0"/>
              <a:t>Controls the Windows 7 cache manager, which handles caching for the entire I/O system </a:t>
            </a:r>
          </a:p>
          <a:p>
            <a:pPr lvl="0"/>
            <a:r>
              <a:rPr lang="en-US" dirty="0"/>
              <a:t>Supports both synchronous and asynchronous operations, provides time outs for drivers, and has mechanisms for one driver to call another</a:t>
            </a:r>
          </a:p>
          <a:p>
            <a:endParaRPr lang="en-US" dirty="0"/>
          </a:p>
        </p:txBody>
      </p:sp>
    </p:spTree>
    <p:extLst>
      <p:ext uri="{BB962C8B-B14F-4D97-AF65-F5344CB8AC3E}">
        <p14:creationId xmlns:p14="http://schemas.microsoft.com/office/powerpoint/2010/main" val="370001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561"/>
            <a:ext cx="10515600" cy="873759"/>
          </a:xfrm>
        </p:spPr>
        <p:txBody>
          <a:bodyPr/>
          <a:lstStyle/>
          <a:p>
            <a:pPr algn="ctr"/>
            <a:r>
              <a:rPr lang="en-US" b="1" dirty="0"/>
              <a:t>WINDOWS7 ARCHITECTURE</a:t>
            </a:r>
            <a:endParaRPr lang="en-US" dirty="0"/>
          </a:p>
        </p:txBody>
      </p:sp>
      <p:sp>
        <p:nvSpPr>
          <p:cNvPr id="3" name="Content Placeholder 2"/>
          <p:cNvSpPr>
            <a:spLocks noGrp="1"/>
          </p:cNvSpPr>
          <p:nvPr>
            <p:ph idx="1"/>
          </p:nvPr>
        </p:nvSpPr>
        <p:spPr>
          <a:xfrm>
            <a:off x="838200" y="1036320"/>
            <a:ext cx="10515600" cy="5821680"/>
          </a:xfrm>
        </p:spPr>
        <p:txBody>
          <a:bodyPr>
            <a:normAutofit/>
          </a:bodyPr>
          <a:lstStyle/>
          <a:p>
            <a:pPr marL="0" indent="0">
              <a:buNone/>
            </a:pPr>
            <a:r>
              <a:rPr lang="en-US" b="1" dirty="0"/>
              <a:t>Object manager	</a:t>
            </a:r>
            <a:r>
              <a:rPr lang="en-US" dirty="0"/>
              <a:t>								</a:t>
            </a:r>
          </a:p>
          <a:p>
            <a:pPr lvl="0"/>
            <a:r>
              <a:rPr lang="en-US" dirty="0"/>
              <a:t>The Object Manager piece of the Executive is used to create, modify, and delete objects used by all the systems that make up the Executive.</a:t>
            </a:r>
          </a:p>
          <a:p>
            <a:pPr lvl="0"/>
            <a:r>
              <a:rPr lang="en-US" dirty="0"/>
              <a:t>Objects are abstract data types that are used to represent operating system resources e.g. </a:t>
            </a:r>
            <a:r>
              <a:rPr lang="en-US" dirty="0" err="1"/>
              <a:t>filesystem</a:t>
            </a:r>
            <a:r>
              <a:rPr lang="en-US" dirty="0"/>
              <a:t>, peripherals and files</a:t>
            </a:r>
          </a:p>
          <a:p>
            <a:pPr lvl="0"/>
            <a:r>
              <a:rPr lang="en-US" dirty="0"/>
              <a:t>The object manager enforces rules for retaining, naming, and setting the security of objects.</a:t>
            </a:r>
          </a:p>
          <a:p>
            <a:pPr lvl="0"/>
            <a:r>
              <a:rPr lang="en-US" dirty="0"/>
              <a:t>It also creates object handles, which consist of access control information and a pointer to the object.</a:t>
            </a:r>
          </a:p>
          <a:p>
            <a:pPr lvl="0"/>
            <a:r>
              <a:rPr lang="en-US" dirty="0"/>
              <a:t>Each object is protected by an access control list.</a:t>
            </a:r>
          </a:p>
          <a:p>
            <a:endParaRPr lang="en-US" dirty="0"/>
          </a:p>
        </p:txBody>
      </p:sp>
    </p:spTree>
    <p:extLst>
      <p:ext uri="{BB962C8B-B14F-4D97-AF65-F5344CB8AC3E}">
        <p14:creationId xmlns:p14="http://schemas.microsoft.com/office/powerpoint/2010/main" val="2416284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1"/>
            <a:ext cx="10515600" cy="873760"/>
          </a:xfrm>
        </p:spPr>
        <p:txBody>
          <a:bodyPr/>
          <a:lstStyle/>
          <a:p>
            <a:pPr algn="ctr"/>
            <a:r>
              <a:rPr lang="en-US" b="1" dirty="0"/>
              <a:t>WINDOWS7 ARCHITECTURE</a:t>
            </a:r>
            <a:endParaRPr lang="en-US" dirty="0"/>
          </a:p>
        </p:txBody>
      </p:sp>
      <p:sp>
        <p:nvSpPr>
          <p:cNvPr id="3" name="Content Placeholder 2"/>
          <p:cNvSpPr>
            <a:spLocks noGrp="1"/>
          </p:cNvSpPr>
          <p:nvPr>
            <p:ph idx="1"/>
          </p:nvPr>
        </p:nvSpPr>
        <p:spPr>
          <a:xfrm>
            <a:off x="838200" y="1076962"/>
            <a:ext cx="10515600" cy="5587998"/>
          </a:xfrm>
        </p:spPr>
        <p:txBody>
          <a:bodyPr>
            <a:normAutofit fontScale="92500" lnSpcReduction="10000"/>
          </a:bodyPr>
          <a:lstStyle/>
          <a:p>
            <a:pPr marL="0" indent="0">
              <a:buNone/>
            </a:pPr>
            <a:r>
              <a:rPr lang="en-US" b="1" dirty="0"/>
              <a:t>Virtual memory manager</a:t>
            </a:r>
            <a:r>
              <a:rPr lang="en-US" dirty="0"/>
              <a:t>							</a:t>
            </a:r>
          </a:p>
          <a:p>
            <a:pPr lvl="0"/>
            <a:r>
              <a:rPr lang="en-US" dirty="0"/>
              <a:t>Manages virtual addresses, physical memory and paging of files on disk.</a:t>
            </a:r>
          </a:p>
          <a:p>
            <a:pPr lvl="0"/>
            <a:r>
              <a:rPr lang="en-US" dirty="0"/>
              <a:t>A page is a fixed length block that has virtual address and that is transferred as a unit between the main memory and secondary memory. i.e. virtual to physical mapping</a:t>
            </a:r>
          </a:p>
          <a:p>
            <a:pPr lvl="0"/>
            <a:r>
              <a:rPr lang="en-US" dirty="0"/>
              <a:t>Implements fetch policy(fetching page from disk to memory)</a:t>
            </a:r>
          </a:p>
          <a:p>
            <a:pPr lvl="0"/>
            <a:r>
              <a:rPr lang="en-US" dirty="0"/>
              <a:t>Implements a placement policy (identifies where to load a page into memory)</a:t>
            </a:r>
          </a:p>
          <a:p>
            <a:pPr lvl="0"/>
            <a:r>
              <a:rPr lang="en-US" dirty="0"/>
              <a:t>Implements a replacement policy (identifies which page to remove from memory)</a:t>
            </a:r>
          </a:p>
          <a:p>
            <a:pPr lvl="0"/>
            <a:r>
              <a:rPr lang="en-US" dirty="0"/>
              <a:t>Keeps track of which parts of memory are in use and which parts are not.</a:t>
            </a:r>
          </a:p>
          <a:p>
            <a:pPr lvl="0"/>
            <a:r>
              <a:rPr lang="en-US" dirty="0"/>
              <a:t>Controls memory protection i.e. programs in a process should not reference memory locations in another process for reading or writing without permission.</a:t>
            </a:r>
          </a:p>
          <a:p>
            <a:endParaRPr lang="en-US" dirty="0"/>
          </a:p>
        </p:txBody>
      </p:sp>
    </p:spTree>
    <p:extLst>
      <p:ext uri="{BB962C8B-B14F-4D97-AF65-F5344CB8AC3E}">
        <p14:creationId xmlns:p14="http://schemas.microsoft.com/office/powerpoint/2010/main" val="3824063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3115"/>
          </a:xfrm>
        </p:spPr>
        <p:txBody>
          <a:bodyPr/>
          <a:lstStyle/>
          <a:p>
            <a:pPr algn="ctr"/>
            <a:r>
              <a:rPr lang="en-US" b="1" dirty="0"/>
              <a:t>WINDOWS7 ARCHITECTURE</a:t>
            </a:r>
            <a:endParaRPr lang="en-US" dirty="0"/>
          </a:p>
        </p:txBody>
      </p:sp>
      <p:sp>
        <p:nvSpPr>
          <p:cNvPr id="3" name="Content Placeholder 2"/>
          <p:cNvSpPr>
            <a:spLocks noGrp="1"/>
          </p:cNvSpPr>
          <p:nvPr>
            <p:ph idx="1"/>
          </p:nvPr>
        </p:nvSpPr>
        <p:spPr>
          <a:xfrm>
            <a:off x="838200" y="1402080"/>
            <a:ext cx="10515600" cy="4774883"/>
          </a:xfrm>
        </p:spPr>
        <p:txBody>
          <a:bodyPr>
            <a:normAutofit/>
          </a:bodyPr>
          <a:lstStyle/>
          <a:p>
            <a:pPr marL="0" indent="0">
              <a:buNone/>
            </a:pPr>
            <a:r>
              <a:rPr lang="en-US" b="1" dirty="0"/>
              <a:t>Process Manager</a:t>
            </a:r>
            <a:endParaRPr lang="en-US" dirty="0"/>
          </a:p>
          <a:p>
            <a:pPr lvl="0"/>
            <a:r>
              <a:rPr lang="en-US" dirty="0"/>
              <a:t>Provides services for creating, deleting, and using threads and processes </a:t>
            </a:r>
          </a:p>
          <a:p>
            <a:pPr lvl="0"/>
            <a:r>
              <a:rPr lang="en-US" dirty="0"/>
              <a:t>Issues such as parent/child relationships or process hierarchies are left to the particular environmental subsystem that owns the process.</a:t>
            </a:r>
          </a:p>
          <a:p>
            <a:pPr marL="0" indent="0">
              <a:buNone/>
            </a:pPr>
            <a:r>
              <a:rPr lang="en-US" b="1" dirty="0"/>
              <a:t>Local Procedure Call Facility</a:t>
            </a:r>
            <a:endParaRPr lang="en-US" dirty="0"/>
          </a:p>
          <a:p>
            <a:pPr lvl="0"/>
            <a:r>
              <a:rPr lang="en-US" dirty="0"/>
              <a:t>The LPC passes requests and results between client and server processes within a single machine. </a:t>
            </a:r>
          </a:p>
          <a:p>
            <a:pPr lvl="0"/>
            <a:r>
              <a:rPr lang="en-US" dirty="0"/>
              <a:t>It is used to request services from the various Windows 7 subsystems. </a:t>
            </a:r>
          </a:p>
          <a:p>
            <a:endParaRPr lang="en-US" dirty="0"/>
          </a:p>
          <a:p>
            <a:endParaRPr lang="en-US" dirty="0"/>
          </a:p>
        </p:txBody>
      </p:sp>
    </p:spTree>
    <p:extLst>
      <p:ext uri="{BB962C8B-B14F-4D97-AF65-F5344CB8AC3E}">
        <p14:creationId xmlns:p14="http://schemas.microsoft.com/office/powerpoint/2010/main" val="3910021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1"/>
            <a:ext cx="10515600" cy="812800"/>
          </a:xfrm>
        </p:spPr>
        <p:txBody>
          <a:bodyPr>
            <a:normAutofit/>
          </a:bodyPr>
          <a:lstStyle/>
          <a:p>
            <a:r>
              <a:rPr lang="en-US" b="1" dirty="0"/>
              <a:t>WINDOWS7 ARCHITECTURE</a:t>
            </a:r>
            <a:endParaRPr lang="en-US" dirty="0"/>
          </a:p>
        </p:txBody>
      </p:sp>
      <p:sp>
        <p:nvSpPr>
          <p:cNvPr id="3" name="Content Placeholder 2"/>
          <p:cNvSpPr>
            <a:spLocks noGrp="1"/>
          </p:cNvSpPr>
          <p:nvPr>
            <p:ph idx="1"/>
          </p:nvPr>
        </p:nvSpPr>
        <p:spPr>
          <a:xfrm>
            <a:off x="838200" y="1198880"/>
            <a:ext cx="10515600" cy="5445760"/>
          </a:xfrm>
        </p:spPr>
        <p:txBody>
          <a:bodyPr>
            <a:normAutofit fontScale="92500" lnSpcReduction="10000"/>
          </a:bodyPr>
          <a:lstStyle/>
          <a:p>
            <a:pPr marL="0" indent="0">
              <a:buNone/>
            </a:pPr>
            <a:r>
              <a:rPr lang="en-US" b="1" dirty="0"/>
              <a:t>Security Reference Monitor</a:t>
            </a:r>
            <a:endParaRPr lang="en-US" dirty="0"/>
          </a:p>
          <a:p>
            <a:pPr lvl="0"/>
            <a:r>
              <a:rPr lang="en-US" dirty="0"/>
              <a:t>The object-oriented nature of Windows 7 enables the use of a uniform mechanism to perform runtime access validation and audit checks for every entity in the system.</a:t>
            </a:r>
          </a:p>
          <a:p>
            <a:pPr lvl="0"/>
            <a:r>
              <a:rPr lang="en-US" dirty="0"/>
              <a:t>Whenever a process opens a handle to an object, the security reference monitor checks the process’s security token and the object’s access control list to see whether the process has the necessary rights.</a:t>
            </a:r>
          </a:p>
          <a:p>
            <a:pPr marL="0" indent="0">
              <a:buNone/>
            </a:pPr>
            <a:r>
              <a:rPr lang="en-US" b="1" dirty="0"/>
              <a:t>Plug-and-Play Manager</a:t>
            </a:r>
            <a:endParaRPr lang="en-US" dirty="0"/>
          </a:p>
          <a:p>
            <a:pPr lvl="0"/>
            <a:r>
              <a:rPr lang="en-US" dirty="0"/>
              <a:t>Plug-and-Play (PnP) manager is used to recognize and adapt to changes in the hardware configuration. </a:t>
            </a:r>
          </a:p>
          <a:p>
            <a:pPr lvl="0"/>
            <a:r>
              <a:rPr lang="en-US" dirty="0"/>
              <a:t>When new devices are added (for example, PCI or USB), the PnP manager loads the appropriate driver. </a:t>
            </a:r>
          </a:p>
          <a:p>
            <a:pPr lvl="0"/>
            <a:r>
              <a:rPr lang="en-US" dirty="0"/>
              <a:t>The manager also keeps track of the resources used by each device.</a:t>
            </a:r>
          </a:p>
          <a:p>
            <a:endParaRPr lang="en-US" dirty="0"/>
          </a:p>
        </p:txBody>
      </p:sp>
    </p:spTree>
    <p:extLst>
      <p:ext uri="{BB962C8B-B14F-4D97-AF65-F5344CB8AC3E}">
        <p14:creationId xmlns:p14="http://schemas.microsoft.com/office/powerpoint/2010/main" val="3279336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1797</Words>
  <Application>Microsoft Office PowerPoint</Application>
  <PresentationFormat>Widescreen</PresentationFormat>
  <Paragraphs>117</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INTRODUCTION TO WINDOWS OPERATING SYSTEMS </vt:lpstr>
      <vt:lpstr>INTRODUCTION TO WINDOWS OPERATING SYSTEMS</vt:lpstr>
      <vt:lpstr>INTRODUCTION TO WINDOWS OPERATING SYSTEMS</vt:lpstr>
      <vt:lpstr>INTRODUCTION TO WINDOWS OPERATING SYSTEMS</vt:lpstr>
      <vt:lpstr>INTRODUCTION TO WINDOWS OPERATING SYSTEMS</vt:lpstr>
      <vt:lpstr>INTRODUCTION TO WINDOWS OPERATING SYSTEMS</vt:lpstr>
      <vt:lpstr>WINDOWS 7 DESIGN PRINCIPLES</vt:lpstr>
      <vt:lpstr>WINDOWS 7 DESIGN PRINCIPLES</vt:lpstr>
      <vt:lpstr>WINDOWS7 ARCHITECTURE </vt:lpstr>
      <vt:lpstr>WINDOWS7 ARCHITECTURE</vt:lpstr>
      <vt:lpstr>WINDOWS7 ARCHITECTURE</vt:lpstr>
      <vt:lpstr>WINDOWS7 ARCHITECTURE</vt:lpstr>
      <vt:lpstr>WINDOWS7 ARCHITECTURE</vt:lpstr>
      <vt:lpstr>WINDOWS7 ARCHITECTURE</vt:lpstr>
      <vt:lpstr>WINDOWS7 ARCHITECTURE</vt:lpstr>
      <vt:lpstr>WINDOWS7 ARCHITECTURE</vt:lpstr>
      <vt:lpstr>WINDOWS7 ARCHITECTURE</vt:lpstr>
      <vt:lpstr>WINDOWS7 ARCHITECTURE</vt:lpstr>
      <vt:lpstr>WINDOWS7 ARCHITECTURE</vt:lpstr>
      <vt:lpstr>WINDOWS7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WINDOWS OPERATING SYSTEMS</dc:title>
  <dc:creator>Muasyia</dc:creator>
  <cp:lastModifiedBy>ADMIN</cp:lastModifiedBy>
  <cp:revision>8</cp:revision>
  <dcterms:created xsi:type="dcterms:W3CDTF">2021-04-18T20:19:22Z</dcterms:created>
  <dcterms:modified xsi:type="dcterms:W3CDTF">2023-10-25T08:12:23Z</dcterms:modified>
</cp:coreProperties>
</file>